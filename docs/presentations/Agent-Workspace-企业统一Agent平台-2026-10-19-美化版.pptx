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5be26192bb4345" /><Relationship Type="http://schemas.openxmlformats.org/officeDocument/2006/relationships/extended-properties" Target="/docProps/app.xml" Id="R4a5df4a31131406d" /><Relationship Type="http://schemas.openxmlformats.org/officeDocument/2006/relationships/officeDocument" Target="/ppt/presentation.xml" Id="R63f543463f5041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921ca1b7e34eff"/>
  </p:sldMasterIdLst>
  <p:notesMasterIdLst>
    <p:notesMasterId xmlns:r="http://schemas.openxmlformats.org/officeDocument/2006/relationships" r:id="Rcdc3e3d615df4b40"/>
  </p:notesMasterIdLst>
  <p:sldIdLst>
    <p:sldId xmlns:r="http://schemas.openxmlformats.org/officeDocument/2006/relationships" id="256" r:id="R4d045c285a9a406f"/>
    <p:sldId xmlns:r="http://schemas.openxmlformats.org/officeDocument/2006/relationships" id="257" r:id="R5d976e057ff44078"/>
    <p:sldId xmlns:r="http://schemas.openxmlformats.org/officeDocument/2006/relationships" id="258" r:id="R65158a5d89874b83"/>
    <p:sldId xmlns:r="http://schemas.openxmlformats.org/officeDocument/2006/relationships" id="259" r:id="Rc8927198363447dd"/>
    <p:sldId xmlns:r="http://schemas.openxmlformats.org/officeDocument/2006/relationships" id="260" r:id="R257c5205f1f54560"/>
    <p:sldId xmlns:r="http://schemas.openxmlformats.org/officeDocument/2006/relationships" id="261" r:id="R87810fe643694842"/>
    <p:sldId xmlns:r="http://schemas.openxmlformats.org/officeDocument/2006/relationships" id="262" r:id="R8a492ac510704e20"/>
    <p:sldId xmlns:r="http://schemas.openxmlformats.org/officeDocument/2006/relationships" id="263" r:id="R8b64dcc23e2e47d0"/>
    <p:sldId xmlns:r="http://schemas.openxmlformats.org/officeDocument/2006/relationships" id="264" r:id="R15d0de5ada124922"/>
    <p:sldId xmlns:r="http://schemas.openxmlformats.org/officeDocument/2006/relationships" id="265" r:id="Rf3a9b3889bcb45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6462da8d0b47b0" /><Relationship Type="http://schemas.openxmlformats.org/officeDocument/2006/relationships/slideMaster" Target="/ppt/slideMasters/slideMaster1.xml" Id="R4a921ca1b7e34eff" /><Relationship Type="http://schemas.openxmlformats.org/officeDocument/2006/relationships/notesMaster" Target="/ppt/notesMasters/notesMaster1.xml" Id="Rcdc3e3d615df4b40" /><Relationship Type="http://schemas.openxmlformats.org/officeDocument/2006/relationships/presProps" Target="/ppt/presProps.xml" Id="R9c299846f1b54039" /><Relationship Type="http://schemas.openxmlformats.org/officeDocument/2006/relationships/tableStyles" Target="/ppt/tableStyles.xml" Id="Rf6e02d84bf174cc7" /><Relationship Type="http://schemas.openxmlformats.org/officeDocument/2006/relationships/slide" Target="/ppt/slides/slide1.xml" Id="R4d045c285a9a406f" /><Relationship Type="http://schemas.openxmlformats.org/officeDocument/2006/relationships/slide" Target="/ppt/slides/slide2.xml" Id="R5d976e057ff44078" /><Relationship Type="http://schemas.openxmlformats.org/officeDocument/2006/relationships/slide" Target="/ppt/slides/slide3.xml" Id="R65158a5d89874b83" /><Relationship Type="http://schemas.openxmlformats.org/officeDocument/2006/relationships/slide" Target="/ppt/slides/slide4.xml" Id="Rc8927198363447dd" /><Relationship Type="http://schemas.openxmlformats.org/officeDocument/2006/relationships/slide" Target="/ppt/slides/slide5.xml" Id="R257c5205f1f54560" /><Relationship Type="http://schemas.openxmlformats.org/officeDocument/2006/relationships/slide" Target="/ppt/slides/slide6.xml" Id="R87810fe643694842" /><Relationship Type="http://schemas.openxmlformats.org/officeDocument/2006/relationships/slide" Target="/ppt/slides/slide7.xml" Id="R8a492ac510704e20" /><Relationship Type="http://schemas.openxmlformats.org/officeDocument/2006/relationships/slide" Target="/ppt/slides/slide8.xml" Id="R8b64dcc23e2e47d0" /><Relationship Type="http://schemas.openxmlformats.org/officeDocument/2006/relationships/slide" Target="/ppt/slides/slide9.xml" Id="R15d0de5ada124922" /><Relationship Type="http://schemas.openxmlformats.org/officeDocument/2006/relationships/slide" Target="/ppt/slides/slide10.xml" Id="Rf3a9b3889bcb45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7a54a8d0b045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2d2c16e2cd49a1" /><Relationship Type="http://schemas.openxmlformats.org/officeDocument/2006/relationships/notesMaster" Target="/ppt/notesMasters/notesMaster1.xml" Id="Rcb790e6a47e147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7e27d31ab04c66" /><Relationship Type="http://schemas.openxmlformats.org/officeDocument/2006/relationships/notesMaster" Target="/ppt/notesMasters/notesMaster1.xml" Id="Rff10c9b287fe41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37664780d94533" /><Relationship Type="http://schemas.openxmlformats.org/officeDocument/2006/relationships/notesMaster" Target="/ppt/notesMasters/notesMaster1.xml" Id="R7d741adbda1542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d2d81b1e2343e4" /><Relationship Type="http://schemas.openxmlformats.org/officeDocument/2006/relationships/notesMaster" Target="/ppt/notesMasters/notesMaster1.xml" Id="R0374da95a27946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c2ad77c7864954" /><Relationship Type="http://schemas.openxmlformats.org/officeDocument/2006/relationships/notesMaster" Target="/ppt/notesMasters/notesMaster1.xml" Id="R532dec10693248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ab75caa54e4762" /><Relationship Type="http://schemas.openxmlformats.org/officeDocument/2006/relationships/notesMaster" Target="/ppt/notesMasters/notesMaster1.xml" Id="Ra9679b66ac114d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1add403758431d" /><Relationship Type="http://schemas.openxmlformats.org/officeDocument/2006/relationships/notesMaster" Target="/ppt/notesMasters/notesMaster1.xml" Id="Rd1cdef66f1324a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fb9c95b00e4c0c" /><Relationship Type="http://schemas.openxmlformats.org/officeDocument/2006/relationships/notesMaster" Target="/ppt/notesMasters/notesMaster1.xml" Id="Rd671a6bcc8cc4c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ce71b02be74493" /><Relationship Type="http://schemas.openxmlformats.org/officeDocument/2006/relationships/notesMaster" Target="/ppt/notesMasters/notesMaster1.xml" Id="Rc52870dcfd8040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e1212b5e734ce3" /><Relationship Type="http://schemas.openxmlformats.org/officeDocument/2006/relationships/notesMaster" Target="/ppt/notesMasters/notesMaster1.xml" Id="Rc2cf401b8a114e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开场：这套平台解决企业如何统一建设和使用 Agent。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用户确认的分享定位（2026-10-19）</a:t>
            </a:r>
          </a:p>
          <a:p xmlns:a="http://schemas.openxmlformats.org/drawingml/2006/main">
            <a:r>
              <a:t>- CONTEXT.md</a:t>
            </a:r>
          </a:p>
          <a:p xmlns:a="http://schemas.openxmlformats.org/drawingml/2006/main">
            <a:r>
              <a:t>- docs/product/agent-workspace-requirements.md §2, §9–11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企业先把环境和工作方式建设好，员工进入同一个平台开展工作。</a:t>
            </a:r>
          </a:p>
          <a:p xmlns:a="http://schemas.openxmlformats.org/drawingml/2006/main">
            <a:r>
              <a:t>统一建设不表示所有内容公开，也不表示强制所有用户使用同一模型；个人内容归属和显式执行配置覆盖继续适用。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CONTEXT.md — Platform Execution Default, Skill, Expert, Connector</a:t>
            </a:r>
          </a:p>
          <a:p xmlns:a="http://schemas.openxmlformats.org/drawingml/2006/main">
            <a:r>
              <a:t>- docs/product/agent-workspace-requirements.md §9–11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演示企业默认配置：先配置模型和运行引擎，员工默认继承。</a:t>
            </a:r>
          </a:p>
          <a:p xmlns:a="http://schemas.openxmlformats.org/drawingml/2006/main">
            <a:r>
              <a:t>用户可以显式选择个人执行配置。引擎实际可用性由部署配置决定；保存默认组合不等于完成真实模型或生产 Conformance 验收。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docs/product/agent-workspace-requirements.md §10</a:t>
            </a:r>
          </a:p>
          <a:p xmlns:a="http://schemas.openxmlformats.org/drawingml/2006/main">
            <a:r>
              <a:t>- CONTEXT.md — Platform Execution Default, Model Provider Connection, Runtime Engine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统一方式体现在任务要求、执行规则、授权确认和结果留痕。</a:t>
            </a:r>
          </a:p>
          <a:p xmlns:a="http://schemas.openxmlformats.org/drawingml/2006/main">
            <a:r>
              <a:t>Workflow 由所属 User 管理，不在这里新增跨用户共享 Workflow 或任意 DAG 能力。统一工作方法通过平台／部门资源与执行规则承载。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docs/product/agent-workspace-requirements.md §4–6, §8–9</a:t>
            </a:r>
          </a:p>
          <a:p xmlns:a="http://schemas.openxmlformats.org/drawingml/2006/main">
            <a:r>
              <a:t>- CONTEXT.md — Workflow, Execution Stage Snapshot, User Action Wait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打开技能目录，说明输入、步骤、判断和交付标准怎样沉淀成技能。</a:t>
            </a:r>
          </a:p>
          <a:p xmlns:a="http://schemas.openxmlformats.org/drawingml/2006/main">
            <a:r>
              <a:t>商品研究仅为技能内容示例，不是本次执行结果。共享资源遵循当前平台、部门与个人权限范围。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CONTEXT.md — Skill</a:t>
            </a:r>
          </a:p>
          <a:p xmlns:a="http://schemas.openxmlformats.org/drawingml/2006/main">
            <a:r>
              <a:t>- docs/product/agent-workspace-requirements.md §9.3</a:t>
            </a:r>
          </a:p>
          <a:p xmlns:a="http://schemas.openxmlformats.org/drawingml/2006/main">
            <a:r>
              <a:t>- skills/amazon-product-direction/SKILL.md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打开专家目录：团队复用专业指导和资源绑定，需要分工时使用 Expert Team。</a:t>
            </a:r>
          </a:p>
          <a:p xmlns:a="http://schemas.openxmlformats.org/drawingml/2006/main">
            <a:r>
              <a:t>截图沿用已有本地验收材料，不代表新增生产模型协作质量验收。只有 Administrator 维护 Expert Team；个人／平台／部门资源遵循各自权限边界。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docs/product/agent-workspace-requirements.md §2, §9.1–9.2</a:t>
            </a:r>
          </a:p>
          <a:p xmlns:a="http://schemas.openxmlformats.org/drawingml/2006/main">
            <a:r>
              <a:t>- CONTEXT.md — Expert, Expert Team, Department Resource</a:t>
            </a:r>
          </a:p>
          <a:p xmlns:a="http://schemas.openxmlformats.org/drawingml/2006/main">
            <a:r>
              <a:t>- docs/evidence/agent-workspace/2026-10-10-expert-refactor-local-acceptance.md</a:t>
            </a:r>
          </a:p>
          <a:p xmlns:a="http://schemas.openxmlformats.org/drawingml/2006/main">
            <a:r>
              <a:t>- output/playwright/experts-desktop.png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连接器负责接入工具和系统，资源定义可以复用，外部账号授权仍属于执行者。</a:t>
            </a:r>
          </a:p>
          <a:p xmlns:a="http://schemas.openxmlformats.org/drawingml/2006/main">
            <a:r>
              <a:t>共享连接器定义不等于共享登录凭据或扩大外部权限。CLI Connector 的平台维护与个人启用分开；高风险命令逐次审批。本地 runc 模式不支持受管 CLI Connector。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docs/product/agent-workspace-requirements.md §9.3–9.5</a:t>
            </a:r>
          </a:p>
          <a:p xmlns:a="http://schemas.openxmlformats.org/drawingml/2006/main">
            <a:r>
              <a:t>- CONTEXT.md — MCP Connector, Third-party CLI Connector, Connector Authorization</a:t>
            </a:r>
          </a:p>
          <a:p xmlns:a="http://schemas.openxmlformats.org/drawingml/2006/main">
            <a:r>
              <a:t>- connectors/README.md</a:t>
            </a:r>
          </a:p>
          <a:p xmlns:a="http://schemas.openxmlformats.org/drawingml/2006/main">
            <a:r>
              <a:t>- docs/evidence/agent-workspace/2026-10-06-online-resource-sync.md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消息渠道把 Agent 带到日常聊天入口：收到问题、执行工作流、回复原聊天。</a:t>
            </a:r>
          </a:p>
          <a:p xmlns:a="http://schemas.openxmlformats.org/drawingml/2006/main">
            <a:r>
              <a:t>当前代码包含 13 个文本收发 Adapter，不表示所有渠道都完成真实账号、客户端或生产闭环验收。渠道与 Connector 授权相互独立；群聊通常还要求允许的发送者和提及机器人。本地 runc 模式不支持消息渠道。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docs/technical/workflow-message-channels.md §1–3, §6 及日期化发布证据</a:t>
            </a:r>
          </a:p>
          <a:p xmlns:a="http://schemas.openxmlformats.org/drawingml/2006/main">
            <a:r>
              <a:t>- CONTEXT.md — Workflow Message Channel, Audience, Conversation, Delivery</a:t>
            </a:r>
          </a:p>
          <a:p xmlns:a="http://schemas.openxmlformats.org/drawingml/2006/main">
            <a:r>
              <a:t>- docs/product/agent-workspace-requirements.md §5.7</a:t>
            </a:r>
          </a:p>
          <a:p xmlns:a="http://schemas.openxmlformats.org/drawingml/2006/main">
            <a:r>
              <a:t>- docs/evidence/agent-workspace/2026-10-18-local-runc-execution.md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企业有统一治理能力，个人内容、外部授权和共享资源仍有明确边界。</a:t>
            </a:r>
          </a:p>
          <a:p xmlns:a="http://schemas.openxmlformats.org/drawingml/2006/main">
            <a:r>
              <a:t>管理员治理权限不授予读取他人个人会话、文件、私有知识库、提示词或执行级消费记录的权限；不将统一管理表述为统一查看私人内容。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docs/product/agent-workspace-requirements.md §2, §2.1, §11</a:t>
            </a:r>
          </a:p>
          <a:p xmlns:a="http://schemas.openxmlformats.org/drawingml/2006/main">
            <a:r>
              <a:t>- CONTEXT.md — Administrator, Governance Audit Event, Credit, Execution Stage Snapshot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口播可以在这里停下来，按这五项做现场操作。</a:t>
            </a:r>
          </a:p>
          <a:p xmlns:a="http://schemas.openxmlformats.org/drawingml/2006/main">
            <a:r>
              <a:t>展示接入配置不等于真实消息收发已验收。当前本机 runc 演示环境可展示基础使用；受管 CLI Connector 和消息渠道的真实运行需在已启用的合适部署环境单独演示。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用户确认的分享重点（2026-10-19）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docs/product/agent-workspace-requirements.md §9–11</a:t>
            </a:r>
          </a:p>
          <a:p xmlns:a="http://schemas.openxmlformats.org/drawingml/2006/main">
            <a:r>
              <a:t>- docs/technical/workflow-message-channels.md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08a4ebf3bd4ff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55079016bd462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c2aaab595f406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f9b2b580874e3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5e21f95e33470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fafe98fa94f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9D58AE-041A-49FA-94B1-E097EFC6B8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CEC4D99-0626-42AF-9829-F609BBA036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4EBB73F-3CC8-4B98-AA3E-29A7429FD1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29BD77-96D3-418C-AE21-0D5CD5F231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60FB938-4753-4F1D-8C1A-FEC6F89344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4392CA0-3C07-498B-9173-1AD717FA7A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7160EA-B0C0-46EA-AC5F-C015DB4F4D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A746619-9329-4CBC-80CE-B8DA8910415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C15DDB-7076-4DCA-9A4A-E2EF93419A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E7E603-98EB-4538-A82F-9243A710B5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12149761764291" /><Relationship Type="http://schemas.openxmlformats.org/officeDocument/2006/relationships/slideLayout" Target="/ppt/slideLayouts/slideLayout1.xml" Id="Rfdf7023b323445e7" /><Relationship Type="http://schemas.openxmlformats.org/officeDocument/2006/relationships/slideLayout" Target="/ppt/slideLayouts/slideLayout2.xml" Id="R2369b621a9814760" /><Relationship Type="http://schemas.openxmlformats.org/officeDocument/2006/relationships/slideLayout" Target="/ppt/slideLayouts/slideLayout3.xml" Id="R94bbc7e1d9464978" /><Relationship Type="http://schemas.openxmlformats.org/officeDocument/2006/relationships/slideLayout" Target="/ppt/slideLayouts/slideLayout4.xml" Id="R3fa7e2d94051457f" /><Relationship Type="http://schemas.openxmlformats.org/officeDocument/2006/relationships/slideLayout" Target="/ppt/slideLayouts/slideLayout5.xml" Id="Rc490d030ea3f4051" /><Relationship Type="http://schemas.openxmlformats.org/officeDocument/2006/relationships/slideLayout" Target="/ppt/slideLayouts/slideLayout6.xml" Id="Rc16e70e09f5d4a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f7023b323445e7"/>
    <p:sldLayoutId xmlns:r="http://schemas.openxmlformats.org/officeDocument/2006/relationships" id="2147483650" r:id="R2369b621a9814760"/>
    <p:sldLayoutId xmlns:r="http://schemas.openxmlformats.org/officeDocument/2006/relationships" id="2147483651" r:id="R94bbc7e1d9464978"/>
    <p:sldLayoutId xmlns:r="http://schemas.openxmlformats.org/officeDocument/2006/relationships" id="2147483652" r:id="R3fa7e2d94051457f"/>
    <p:sldLayoutId xmlns:r="http://schemas.openxmlformats.org/officeDocument/2006/relationships" id="2147483653" r:id="Rc490d030ea3f4051"/>
    <p:sldLayoutId xmlns:r="http://schemas.openxmlformats.org/officeDocument/2006/relationships" id="2147483654" r:id="Rc16e70e09f5d4a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94ab1ff1b44ea6" /><Relationship Type="http://schemas.openxmlformats.org/officeDocument/2006/relationships/notesSlide" Target="/ppt/notesSlides/notesSlide1.xml" Id="R737941ca00d94c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50874a3c294162" /><Relationship Type="http://schemas.openxmlformats.org/officeDocument/2006/relationships/notesSlide" Target="/ppt/notesSlides/notesSlide2.xml" Id="Re307128821a541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6ba35639d74a78" /><Relationship Type="http://schemas.openxmlformats.org/officeDocument/2006/relationships/notesSlide" Target="/ppt/notesSlides/notesSlide3.xml" Id="Re03b4f11e9194c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68c26b0f9e436b" /><Relationship Type="http://schemas.openxmlformats.org/officeDocument/2006/relationships/notesSlide" Target="/ppt/notesSlides/notesSlide4.xml" Id="R2c56ae028e5e45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5fbd708b4c4935" /><Relationship Type="http://schemas.openxmlformats.org/officeDocument/2006/relationships/notesSlide" Target="/ppt/notesSlides/notesSlide5.xml" Id="R1db2f48fd2e44f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87a85757124033" /><Relationship Type="http://schemas.openxmlformats.org/officeDocument/2006/relationships/image" Target="/ppt/media/image.png" Id="Ra8357ff810ad4885" /><Relationship Type="http://schemas.openxmlformats.org/officeDocument/2006/relationships/notesSlide" Target="/ppt/notesSlides/notesSlide6.xml" Id="Rffe0bad4b9d841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b8b6a3ec0e44fd" /><Relationship Type="http://schemas.openxmlformats.org/officeDocument/2006/relationships/notesSlide" Target="/ppt/notesSlides/notesSlide7.xml" Id="Re34e6de8e6f64e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c2ed8cbd3b473f" /><Relationship Type="http://schemas.openxmlformats.org/officeDocument/2006/relationships/notesSlide" Target="/ppt/notesSlides/notesSlide8.xml" Id="Rbc08836b63804e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dc43c72fc644c7" /><Relationship Type="http://schemas.openxmlformats.org/officeDocument/2006/relationships/notesSlide" Target="/ppt/notesSlides/notesSlide9.xml" Id="Rec74493864ba4f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7ada60055c4e79" /><Relationship Type="http://schemas.openxmlformats.org/officeDocument/2006/relationships/notesSlide" Target="/ppt/notesSlides/notesSlide10.xml" Id="Rf2662e5d521649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5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gent Workspace">
            <a:extLst xmlns:a="http://schemas.openxmlformats.org/drawingml/2006/main">
              <a:ext uri="{FF2B5EF4-FFF2-40B4-BE49-F238E27FC236}">
                <a16:creationId xmlns:a16="http://schemas.microsoft.com/office/drawing/2014/main" id="{986578CC-8EA1-4353-9EB1-A517365D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rPr>
              <a:t>Agent Workspace</a:t>
            </a:r>
          </a:p>
        </p:txBody>
      </p:sp>
      <p:sp>
        <p:nvSpPr>
          <p:cNvPr id="2" name="01 / 10">
            <a:extLst xmlns:a="http://schemas.openxmlformats.org/drawingml/2006/main">
              <a:ext uri="{FF2B5EF4-FFF2-40B4-BE49-F238E27FC236}">
                <a16:creationId xmlns:a16="http://schemas.microsoft.com/office/drawing/2014/main" id="{3B61FD25-F486-4136-AE8B-F4199DB3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29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rPr>
              <a:t>01 / 10</a:t>
            </a:r>
          </a:p>
        </p:txBody>
      </p:sp>
      <p:sp>
        <p:nvSpPr>
          <p:cNvPr id="3" name="企业统一的 Agent">
            <a:extLst xmlns:a="http://schemas.openxmlformats.org/drawingml/2006/main">
              <a:ext uri="{FF2B5EF4-FFF2-40B4-BE49-F238E27FC236}">
                <a16:creationId xmlns:a16="http://schemas.microsoft.com/office/drawing/2014/main" id="{EF16CBE2-6F18-4B1F-BE34-F469F0BC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5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5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5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5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5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5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5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5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5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企业统一的 Agent</a:t>
            </a:r>
          </a:p>
        </p:txBody>
      </p:sp>
      <p:sp>
        <p:nvSpPr>
          <p:cNvPr id="4" name="运行环境与工作方式">
            <a:extLst xmlns:a="http://schemas.openxmlformats.org/drawingml/2006/main">
              <a:ext uri="{FF2B5EF4-FFF2-40B4-BE49-F238E27FC236}">
                <a16:creationId xmlns:a16="http://schemas.microsoft.com/office/drawing/2014/main" id="{E64E02C7-4B72-464E-91EB-DE34B6F1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10934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70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570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570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570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570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570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570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570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570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570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pPr>
            <a:r>
              <a:rPr sz="5700" b="1">
                <a:solidFill>
                  <a:srgbClr val="7CE5CF"/>
                </a:solidFill>
                <a:latin typeface="PingFang SC"/>
                <a:ea typeface="PingFang SC"/>
                <a:cs typeface="PingFang SC"/>
              </a:rPr>
              <a:t>运行环境与工作方式</a:t>
            </a:r>
          </a:p>
        </p:txBody>
      </p:sp>
      <p:sp>
        <p:nvSpPr>
          <p:cNvPr id="5" name="统一配置环境，沉淀业务能力，连接系统与消息渠道">
            <a:extLst xmlns:a="http://schemas.openxmlformats.org/drawingml/2006/main">
              <a:ext uri="{FF2B5EF4-FFF2-40B4-BE49-F238E27FC236}">
                <a16:creationId xmlns:a16="http://schemas.microsoft.com/office/drawing/2014/main" id="{D03407D0-130D-4C8F-AE5A-A800901E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9575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B7C7E3"/>
                </a:solidFill>
                <a:latin typeface="PingFang SC"/>
                <a:ea typeface="PingFang SC"/>
                <a:cs typeface="PingFang SC"/>
              </a:rPr>
              <a:t>统一配置环境，沉淀业务能力，连接系统与消息渠道</a:t>
            </a:r>
          </a:p>
        </p:txBody>
      </p:sp>
      <p:sp>
        <p:nvSpPr>
          <p:cNvPr id="6" name="企业产品分享">
            <a:extLst xmlns:a="http://schemas.openxmlformats.org/drawingml/2006/main">
              <a:ext uri="{FF2B5EF4-FFF2-40B4-BE49-F238E27FC236}">
                <a16:creationId xmlns:a16="http://schemas.microsoft.com/office/drawing/2014/main" id="{7BC60E15-910B-4640-B9FA-11736025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B7C7E3"/>
                </a:solidFill>
                <a:latin typeface="PingFang SC"/>
                <a:ea typeface="PingFang SC"/>
                <a:cs typeface="PingFang SC"/>
              </a:rPr>
              <a:t>企业产品分享</a:t>
            </a:r>
          </a:p>
        </p:txBody>
      </p:sp>
    </p:spTree>
    <p:extLst>
      <p:ext uri="{BB962C8B-B14F-4D97-AF65-F5344CB8AC3E}">
        <p14:creationId xmlns:p14="http://schemas.microsoft.com/office/powerpoint/2010/main" val="17616274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gent Workspace">
            <a:extLst xmlns:a="http://schemas.openxmlformats.org/drawingml/2006/main">
              <a:ext uri="{FF2B5EF4-FFF2-40B4-BE49-F238E27FC236}">
                <a16:creationId xmlns:a16="http://schemas.microsoft.com/office/drawing/2014/main" id="{5982F7CB-398D-434A-9C84-35F3E82E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Agent Workspace</a:t>
            </a:r>
          </a:p>
        </p:txBody>
      </p:sp>
      <p:sp>
        <p:nvSpPr>
          <p:cNvPr id="2" name="02 / 10">
            <a:extLst xmlns:a="http://schemas.openxmlformats.org/drawingml/2006/main">
              <a:ext uri="{FF2B5EF4-FFF2-40B4-BE49-F238E27FC236}">
                <a16:creationId xmlns:a16="http://schemas.microsoft.com/office/drawing/2014/main" id="{66E2BB22-39EC-418F-871B-BEFE72AD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29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02 / 10</a:t>
            </a:r>
          </a:p>
        </p:txBody>
      </p:sp>
      <p:sp>
        <p:nvSpPr>
          <p:cNvPr id="3" name="企业">
            <a:extLst xmlns:a="http://schemas.openxmlformats.org/drawingml/2006/main">
              <a:ext uri="{FF2B5EF4-FFF2-40B4-BE49-F238E27FC236}">
                <a16:creationId xmlns:a16="http://schemas.microsoft.com/office/drawing/2014/main" id="{68262DE2-49BB-4835-82CD-877D1830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238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8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58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58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58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58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58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58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58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58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58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pPr>
            <a:r>
              <a:rPr sz="5850" b="1">
                <a:solidFill>
                  <a:srgbClr val="101F3C"/>
                </a:solidFill>
                <a:latin typeface="PingFang SC"/>
                <a:ea typeface="PingFang SC"/>
                <a:cs typeface="PingFang SC"/>
              </a:rPr>
              <a:t>企业</a:t>
            </a:r>
          </a:p>
          <a:p xmlns:a="http://schemas.openxmlformats.org/drawingml/2006/main">
            <a:pPr>
              <a:defRPr sz="58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pPr>
            <a:r>
              <a:rPr sz="5850" b="1">
                <a:solidFill>
                  <a:srgbClr val="101F3C"/>
                </a:solidFill>
                <a:latin typeface="PingFang SC"/>
                <a:ea typeface="PingFang SC"/>
                <a:cs typeface="PingFang SC"/>
              </a:rPr>
              <a:t>统一建设</a:t>
            </a:r>
          </a:p>
        </p:txBody>
      </p:sp>
      <p:sp>
        <p:nvSpPr>
          <p:cNvPr id="4" name="员工统一使用">
            <a:extLst xmlns:a="http://schemas.openxmlformats.org/drawingml/2006/main">
              <a:ext uri="{FF2B5EF4-FFF2-40B4-BE49-F238E27FC236}">
                <a16:creationId xmlns:a16="http://schemas.microsoft.com/office/drawing/2014/main" id="{DEFCDF9D-CBEC-4D9C-BBBE-A5D16D48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0025"/>
            <a:ext cx="523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2162EF"/>
                </a:solidFill>
                <a:latin typeface="PingFang SC"/>
                <a:ea typeface="PingFang SC"/>
                <a:cs typeface="PingFang SC"/>
              </a:rPr>
              <a:t>员工统一使用</a:t>
            </a:r>
          </a:p>
        </p:txBody>
      </p:sp>
      <p:sp>
        <p:nvSpPr>
          <p:cNvPr id="5" name="统一环境">
            <a:extLst xmlns:a="http://schemas.openxmlformats.org/drawingml/2006/main">
              <a:ext uri="{FF2B5EF4-FFF2-40B4-BE49-F238E27FC236}">
                <a16:creationId xmlns:a16="http://schemas.microsoft.com/office/drawing/2014/main" id="{1C14FF12-99B9-44DC-9313-DDDABC2B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478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rPr>
              <a:t>统一环境</a:t>
            </a:r>
          </a:p>
        </p:txBody>
      </p:sp>
      <p:sp>
        <p:nvSpPr>
          <p:cNvPr id="6" name="运行引擎、模型连接与企业默认">
            <a:extLst xmlns:a="http://schemas.openxmlformats.org/drawingml/2006/main">
              <a:ext uri="{FF2B5EF4-FFF2-40B4-BE49-F238E27FC236}">
                <a16:creationId xmlns:a16="http://schemas.microsoft.com/office/drawing/2014/main" id="{AA31333F-341A-4905-A3C8-CFE2DE2A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95525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运行引擎、模型连接与企业默认</a:t>
            </a:r>
          </a:p>
        </p:txBody>
      </p:sp>
      <p:sp>
        <p:nvSpPr>
          <p:cNvPr id="7" name="统一流程">
            <a:extLst xmlns:a="http://schemas.openxmlformats.org/drawingml/2006/main">
              <a:ext uri="{FF2B5EF4-FFF2-40B4-BE49-F238E27FC236}">
                <a16:creationId xmlns:a16="http://schemas.microsoft.com/office/drawing/2014/main" id="{0D2A58A2-B38A-44CB-8F52-2ADDF63A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5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rPr>
              <a:t>统一流程</a:t>
            </a:r>
          </a:p>
        </p:txBody>
      </p:sp>
      <p:sp>
        <p:nvSpPr>
          <p:cNvPr id="8" name="任务步骤、判断规则与交付标准">
            <a:extLst xmlns:a="http://schemas.openxmlformats.org/drawingml/2006/main">
              <a:ext uri="{FF2B5EF4-FFF2-40B4-BE49-F238E27FC236}">
                <a16:creationId xmlns:a16="http://schemas.microsoft.com/office/drawing/2014/main" id="{15EECF21-C096-452A-8441-B0A333B8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7528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任务步骤、判断规则与交付标准</a:t>
            </a:r>
          </a:p>
        </p:txBody>
      </p:sp>
      <p:sp>
        <p:nvSpPr>
          <p:cNvPr id="9" name="能力沉淀">
            <a:extLst xmlns:a="http://schemas.openxmlformats.org/drawingml/2006/main">
              <a:ext uri="{FF2B5EF4-FFF2-40B4-BE49-F238E27FC236}">
                <a16:creationId xmlns:a16="http://schemas.microsoft.com/office/drawing/2014/main" id="{75F40D4B-2FC8-4F6F-B78A-4C62EFDB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56247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162EF"/>
                </a:solidFill>
                <a:latin typeface="PingFang SC"/>
                <a:ea typeface="PingFang SC"/>
                <a:cs typeface="PingFang SC"/>
              </a:rPr>
              <a:t>能力沉淀</a:t>
            </a:r>
          </a:p>
        </p:txBody>
      </p:sp>
      <p:sp>
        <p:nvSpPr>
          <p:cNvPr id="10" name="技能、专家、连接器与消息渠道">
            <a:extLst xmlns:a="http://schemas.openxmlformats.org/drawingml/2006/main">
              <a:ext uri="{FF2B5EF4-FFF2-40B4-BE49-F238E27FC236}">
                <a16:creationId xmlns:a16="http://schemas.microsoft.com/office/drawing/2014/main" id="{8A05F671-62D4-4ABD-938E-E63CB4A3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210175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技能、专家、连接器与消息渠道</a:t>
            </a:r>
          </a:p>
        </p:txBody>
      </p:sp>
    </p:spTree>
    <p:extLst>
      <p:ext uri="{BB962C8B-B14F-4D97-AF65-F5344CB8AC3E}">
        <p14:creationId xmlns:p14="http://schemas.microsoft.com/office/powerpoint/2010/main" val="1094509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5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gent Workspace">
            <a:extLst xmlns:a="http://schemas.openxmlformats.org/drawingml/2006/main">
              <a:ext uri="{FF2B5EF4-FFF2-40B4-BE49-F238E27FC236}">
                <a16:creationId xmlns:a16="http://schemas.microsoft.com/office/drawing/2014/main" id="{5C17EA4B-35E7-4919-8FD4-7DAE0201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rPr>
              <a:t>Agent Workspace</a:t>
            </a:r>
          </a:p>
        </p:txBody>
      </p:sp>
      <p:sp>
        <p:nvSpPr>
          <p:cNvPr id="2" name="03 / 10">
            <a:extLst xmlns:a="http://schemas.openxmlformats.org/drawingml/2006/main">
              <a:ext uri="{FF2B5EF4-FFF2-40B4-BE49-F238E27FC236}">
                <a16:creationId xmlns:a16="http://schemas.microsoft.com/office/drawing/2014/main" id="{3C9DC20B-7697-431F-90C7-18A05F53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29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rPr>
              <a:t>03 / 10</a:t>
            </a:r>
          </a:p>
        </p:txBody>
      </p:sp>
      <p:sp>
        <p:nvSpPr>
          <p:cNvPr id="3" name="统一的 Agent 运行环境">
            <a:extLst xmlns:a="http://schemas.openxmlformats.org/drawingml/2006/main">
              <a:ext uri="{FF2B5EF4-FFF2-40B4-BE49-F238E27FC236}">
                <a16:creationId xmlns:a16="http://schemas.microsoft.com/office/drawing/2014/main" id="{BB25E423-8335-46B5-999A-1F64495A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统一的 Agent 运行环境</a:t>
            </a:r>
          </a:p>
        </p:txBody>
      </p:sp>
      <p:sp>
        <p:nvSpPr>
          <p:cNvPr id="4" name="管理员集中配置">
            <a:extLst xmlns:a="http://schemas.openxmlformats.org/drawingml/2006/main">
              <a:ext uri="{FF2B5EF4-FFF2-40B4-BE49-F238E27FC236}">
                <a16:creationId xmlns:a16="http://schemas.microsoft.com/office/drawing/2014/main" id="{CD8DB5E2-DD23-4364-9377-EF6861AD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0934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管理员集中配置</a:t>
            </a:r>
          </a:p>
        </p:txBody>
      </p:sp>
      <p:sp>
        <p:nvSpPr>
          <p:cNvPr id="5" name="员工默认继承">
            <a:extLst xmlns:a="http://schemas.openxmlformats.org/drawingml/2006/main">
              <a:ext uri="{FF2B5EF4-FFF2-40B4-BE49-F238E27FC236}">
                <a16:creationId xmlns:a16="http://schemas.microsoft.com/office/drawing/2014/main" id="{666B42E0-AD62-4063-9A84-1F0D0FB6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0934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6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6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6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6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6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6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6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6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6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6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7CE5CF"/>
                </a:solidFill>
                <a:latin typeface="PingFang SC"/>
                <a:ea typeface="PingFang SC"/>
                <a:cs typeface="PingFang SC"/>
              </a:rPr>
              <a:t>员工默认继承</a:t>
            </a:r>
          </a:p>
        </p:txBody>
      </p:sp>
      <p:sp>
        <p:nvSpPr>
          <p:cNvPr id="6" name="模型接入">
            <a:extLst xmlns:a="http://schemas.openxmlformats.org/drawingml/2006/main">
              <a:ext uri="{FF2B5EF4-FFF2-40B4-BE49-F238E27FC236}">
                <a16:creationId xmlns:a16="http://schemas.microsoft.com/office/drawing/2014/main" id="{A285FCD9-F8EF-441F-9782-FA9AE899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257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模型接入</a:t>
            </a:r>
          </a:p>
        </p:txBody>
      </p:sp>
      <p:sp>
        <p:nvSpPr>
          <p:cNvPr id="7" name="供应商与可用模型">
            <a:extLst xmlns:a="http://schemas.openxmlformats.org/drawingml/2006/main">
              <a:ext uri="{FF2B5EF4-FFF2-40B4-BE49-F238E27FC236}">
                <a16:creationId xmlns:a16="http://schemas.microsoft.com/office/drawing/2014/main" id="{1E9D2112-30F4-480F-BD5D-C76C499A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rPr>
              <a:t>供应商与可用模型</a:t>
            </a:r>
          </a:p>
        </p:txBody>
      </p:sp>
      <p:sp>
        <p:nvSpPr>
          <p:cNvPr id="8" name="运行引擎">
            <a:extLst xmlns:a="http://schemas.openxmlformats.org/drawingml/2006/main">
              <a:ext uri="{FF2B5EF4-FFF2-40B4-BE49-F238E27FC236}">
                <a16:creationId xmlns:a16="http://schemas.microsoft.com/office/drawing/2014/main" id="{A0CB5516-2626-41AF-A0C6-31EC3D3D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552950"/>
            <a:ext cx="257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运行引擎</a:t>
            </a:r>
          </a:p>
        </p:txBody>
      </p:sp>
      <p:sp>
        <p:nvSpPr>
          <p:cNvPr id="9" name="统一承载与部署">
            <a:extLst xmlns:a="http://schemas.openxmlformats.org/drawingml/2006/main">
              <a:ext uri="{FF2B5EF4-FFF2-40B4-BE49-F238E27FC236}">
                <a16:creationId xmlns:a16="http://schemas.microsoft.com/office/drawing/2014/main" id="{4F8620CA-A5A0-496A-8A64-2204BF7B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53025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rPr>
              <a:t>统一承载与部署</a:t>
            </a:r>
          </a:p>
        </p:txBody>
      </p:sp>
      <p:sp>
        <p:nvSpPr>
          <p:cNvPr id="10" name="企业默认">
            <a:extLst xmlns:a="http://schemas.openxmlformats.org/drawingml/2006/main">
              <a:ext uri="{FF2B5EF4-FFF2-40B4-BE49-F238E27FC236}">
                <a16:creationId xmlns:a16="http://schemas.microsoft.com/office/drawing/2014/main" id="{1553CEB4-4620-47B7-9F1E-7AB86F4E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52950"/>
            <a:ext cx="257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企业默认</a:t>
            </a:r>
          </a:p>
        </p:txBody>
      </p:sp>
      <p:sp>
        <p:nvSpPr>
          <p:cNvPr id="11" name="引擎和模型组合">
            <a:extLst xmlns:a="http://schemas.openxmlformats.org/drawingml/2006/main">
              <a:ext uri="{FF2B5EF4-FFF2-40B4-BE49-F238E27FC236}">
                <a16:creationId xmlns:a16="http://schemas.microsoft.com/office/drawing/2014/main" id="{47B9B392-675F-4208-B4B9-9E800931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53025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rPr>
              <a:t>引擎和模型组合</a:t>
            </a:r>
          </a:p>
        </p:txBody>
      </p:sp>
      <p:sp>
        <p:nvSpPr>
          <p:cNvPr id="12" name="执行边界">
            <a:extLst xmlns:a="http://schemas.openxmlformats.org/drawingml/2006/main">
              <a:ext uri="{FF2B5EF4-FFF2-40B4-BE49-F238E27FC236}">
                <a16:creationId xmlns:a16="http://schemas.microsoft.com/office/drawing/2014/main" id="{DC4FB8A3-3997-47C8-935D-D1F26F92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52950"/>
            <a:ext cx="257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执行边界</a:t>
            </a:r>
          </a:p>
        </p:txBody>
      </p:sp>
      <p:sp>
        <p:nvSpPr>
          <p:cNvPr id="13" name="凭据与执行记录">
            <a:extLst xmlns:a="http://schemas.openxmlformats.org/drawingml/2006/main">
              <a:ext uri="{FF2B5EF4-FFF2-40B4-BE49-F238E27FC236}">
                <a16:creationId xmlns:a16="http://schemas.microsoft.com/office/drawing/2014/main" id="{A9DA094D-5620-48F5-9334-550FF4C2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53025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rPr>
              <a:t>凭据与执行记录</a:t>
            </a:r>
          </a:p>
        </p:txBody>
      </p:sp>
      <p:sp>
        <p:nvSpPr>
          <p:cNvPr id="14" name="个人可显式覆盖执行配置，具体引擎按部署启用。">
            <a:extLst xmlns:a="http://schemas.openxmlformats.org/drawingml/2006/main">
              <a:ext uri="{FF2B5EF4-FFF2-40B4-BE49-F238E27FC236}">
                <a16:creationId xmlns:a16="http://schemas.microsoft.com/office/drawing/2014/main" id="{D15CD236-3213-4EA2-9ADB-FD168A6F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B7C7E3"/>
                </a:solidFill>
                <a:latin typeface="PingFang SC"/>
                <a:ea typeface="PingFang SC"/>
                <a:cs typeface="PingFang SC"/>
              </a:rPr>
              <a:t>个人可显式覆盖执行配置，具体引擎按部署启用。</a:t>
            </a:r>
          </a:p>
        </p:txBody>
      </p:sp>
    </p:spTree>
    <p:extLst>
      <p:ext uri="{BB962C8B-B14F-4D97-AF65-F5344CB8AC3E}">
        <p14:creationId xmlns:p14="http://schemas.microsoft.com/office/powerpoint/2010/main" val="19655480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Agent Workspace">
            <a:extLst xmlns:a="http://schemas.openxmlformats.org/drawingml/2006/main">
              <a:ext uri="{FF2B5EF4-FFF2-40B4-BE49-F238E27FC236}">
                <a16:creationId xmlns:a16="http://schemas.microsoft.com/office/drawing/2014/main" id="{8AC57F5D-D1C9-4F9D-B0B6-8936E89D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Agent Workspace</a:t>
            </a:r>
          </a:p>
        </p:txBody>
      </p:sp>
      <p:sp>
        <p:nvSpPr>
          <p:cNvPr id="2" name="04 / 10">
            <a:extLst xmlns:a="http://schemas.openxmlformats.org/drawingml/2006/main">
              <a:ext uri="{FF2B5EF4-FFF2-40B4-BE49-F238E27FC236}">
                <a16:creationId xmlns:a16="http://schemas.microsoft.com/office/drawing/2014/main" id="{91E526A0-F91D-470C-8AD7-7E8BF86D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29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04 / 10</a:t>
            </a:r>
          </a:p>
        </p:txBody>
      </p:sp>
      <p:sp>
        <p:nvSpPr>
          <p:cNvPr id="3" name="统一流程和使用方式">
            <a:extLst xmlns:a="http://schemas.openxmlformats.org/drawingml/2006/main">
              <a:ext uri="{FF2B5EF4-FFF2-40B4-BE49-F238E27FC236}">
                <a16:creationId xmlns:a16="http://schemas.microsoft.com/office/drawing/2014/main" id="{279A0A21-26CD-48F8-8403-7880651E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rPr>
              <a:t>统一流程和使用方式</a:t>
            </a:r>
          </a:p>
        </p:txBody>
      </p:sp>
      <p:sp>
        <p:nvSpPr>
          <p:cNvPr id="4" name="把工作方法落实到每次执行">
            <a:extLst xmlns:a="http://schemas.openxmlformats.org/drawingml/2006/main">
              <a:ext uri="{FF2B5EF4-FFF2-40B4-BE49-F238E27FC236}">
                <a16:creationId xmlns:a16="http://schemas.microsoft.com/office/drawing/2014/main" id="{A7A75AD3-4FC9-4089-8CEB-C15BC296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62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62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62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62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62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62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62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62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62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2162EF"/>
                </a:solidFill>
                <a:latin typeface="PingFang SC"/>
                <a:ea typeface="PingFang SC"/>
                <a:cs typeface="PingFang SC"/>
              </a:rPr>
              <a:t>把工作方法落实到每次执行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9AE130D5-82EC-4D77-B8F2-A9C43A52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pPr>
            <a:r>
              <a: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任务要求">
            <a:extLst xmlns:a="http://schemas.openxmlformats.org/drawingml/2006/main">
              <a:ext uri="{FF2B5EF4-FFF2-40B4-BE49-F238E27FC236}">
                <a16:creationId xmlns:a16="http://schemas.microsoft.com/office/drawing/2014/main" id="{AA333662-8947-430E-8053-B0A7705E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rPr>
              <a:t>任务要求</a:t>
            </a:r>
          </a:p>
        </p:txBody>
      </p:sp>
      <p:sp>
        <p:nvSpPr>
          <p:cNvPr id="7" name="输入资料">
            <a:extLst xmlns:a="http://schemas.openxmlformats.org/drawingml/2006/main">
              <a:ext uri="{FF2B5EF4-FFF2-40B4-BE49-F238E27FC236}">
                <a16:creationId xmlns:a16="http://schemas.microsoft.com/office/drawing/2014/main" id="{5FCAE7C7-1C57-4516-B665-0FF5AA34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输入资料</a:t>
            </a:r>
          </a:p>
          <a:p xmlns:a="http://schemas.openxmlformats.org/drawingml/2006/main">
            <a: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目标与交付标准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F5936B6F-0B42-470B-9716-C0AA7BB8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099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pPr>
            <a:r>
              <a: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执行方法">
            <a:extLst xmlns:a="http://schemas.openxmlformats.org/drawingml/2006/main">
              <a:ext uri="{FF2B5EF4-FFF2-40B4-BE49-F238E27FC236}">
                <a16:creationId xmlns:a16="http://schemas.microsoft.com/office/drawing/2014/main" id="{5B01B0D0-B757-4D07-B035-6A00E31C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91477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rPr>
              <a:t>执行方法</a:t>
            </a:r>
          </a:p>
        </p:txBody>
      </p:sp>
      <p:sp>
        <p:nvSpPr>
          <p:cNvPr id="10" name="专家指导">
            <a:extLst xmlns:a="http://schemas.openxmlformats.org/drawingml/2006/main">
              <a:ext uri="{FF2B5EF4-FFF2-40B4-BE49-F238E27FC236}">
                <a16:creationId xmlns:a16="http://schemas.microsoft.com/office/drawing/2014/main" id="{F6C691F4-88AE-48AE-B690-4076D519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57725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专家指导</a:t>
            </a:r>
          </a:p>
          <a:p xmlns:a="http://schemas.openxmlformats.org/drawingml/2006/main">
            <a: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技能规则</a:t>
            </a:r>
          </a:p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16C028EF-21C1-4DEC-8309-4B9BC65F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099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pPr>
            <a:r>
              <a: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授权确认">
            <a:extLst xmlns:a="http://schemas.openxmlformats.org/drawingml/2006/main">
              <a:ext uri="{FF2B5EF4-FFF2-40B4-BE49-F238E27FC236}">
                <a16:creationId xmlns:a16="http://schemas.microsoft.com/office/drawing/2014/main" id="{94BF0037-A720-4024-AAF7-4C382B79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1477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rPr>
              <a:t>授权确认</a:t>
            </a:r>
          </a:p>
        </p:txBody>
      </p:sp>
      <p:sp>
        <p:nvSpPr>
          <p:cNvPr id="13" name="个人授权">
            <a:extLst xmlns:a="http://schemas.openxmlformats.org/drawingml/2006/main">
              <a:ext uri="{FF2B5EF4-FFF2-40B4-BE49-F238E27FC236}">
                <a16:creationId xmlns:a16="http://schemas.microsoft.com/office/drawing/2014/main" id="{083B36D7-797B-44E6-96E9-9DF677EB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57725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个人授权</a:t>
            </a:r>
          </a:p>
          <a:p xmlns:a="http://schemas.openxmlformats.org/drawingml/2006/main">
            <a: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高风险操作确认</a:t>
            </a:r>
          </a:p>
        </p:txBody>
      </p:sp>
      <p:sp>
        <p:nvSpPr>
          <p:cNvPr id="14" name="04">
            <a:extLst xmlns:a="http://schemas.openxmlformats.org/drawingml/2006/main">
              <a:ext uri="{FF2B5EF4-FFF2-40B4-BE49-F238E27FC236}">
                <a16:creationId xmlns:a16="http://schemas.microsoft.com/office/drawing/2014/main" id="{B2F4033B-A189-4B9B-8FCA-33E73C96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099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pPr>
            <a:r>
              <a:rPr sz="4275" b="1">
                <a:solidFill>
                  <a:srgbClr val="2162E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5" name="结果留痕">
            <a:extLst xmlns:a="http://schemas.openxmlformats.org/drawingml/2006/main">
              <a:ext uri="{FF2B5EF4-FFF2-40B4-BE49-F238E27FC236}">
                <a16:creationId xmlns:a16="http://schemas.microsoft.com/office/drawing/2014/main" id="{0629C957-AB7D-4B71-8BD4-B1C0C7D5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1477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01F3C"/>
                </a:solidFill>
                <a:latin typeface="PingFang SC"/>
                <a:ea typeface="PingFang SC"/>
                <a:cs typeface="PingFang SC"/>
              </a:rPr>
              <a:t>结果留痕</a:t>
            </a:r>
          </a:p>
        </p:txBody>
      </p:sp>
      <p:sp>
        <p:nvSpPr>
          <p:cNvPr id="16" name="执行活动">
            <a:extLst xmlns:a="http://schemas.openxmlformats.org/drawingml/2006/main">
              <a:ext uri="{FF2B5EF4-FFF2-40B4-BE49-F238E27FC236}">
                <a16:creationId xmlns:a16="http://schemas.microsoft.com/office/drawing/2014/main" id="{6119016D-54AB-485E-BAC3-5BA03174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57725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执行活动</a:t>
            </a:r>
          </a:p>
          <a:p xmlns:a="http://schemas.openxmlformats.org/drawingml/2006/main">
            <a: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文件与历史记录</a:t>
            </a:r>
          </a:p>
        </p:txBody>
      </p:sp>
      <p:sp>
        <p:nvSpPr>
          <p:cNvPr id="17" name="会话处理当前任务，Workflow 固定目标与可重复执行的配置。">
            <a:extLst xmlns:a="http://schemas.openxmlformats.org/drawingml/2006/main">
              <a:ext uri="{FF2B5EF4-FFF2-40B4-BE49-F238E27FC236}">
                <a16:creationId xmlns:a16="http://schemas.microsoft.com/office/drawing/2014/main" id="{37CFECBD-3AE7-4398-8FA2-CF08ACD6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rPr>
              <a:t>会话处理当前任务，Workflow 固定目标与可重复执行的配置。</a:t>
            </a:r>
          </a:p>
        </p:txBody>
      </p:sp>
    </p:spTree>
    <p:extLst>
      <p:ext uri="{BB962C8B-B14F-4D97-AF65-F5344CB8AC3E}">
        <p14:creationId xmlns:p14="http://schemas.microsoft.com/office/powerpoint/2010/main" val="13864901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gent Workspace">
            <a:extLst xmlns:a="http://schemas.openxmlformats.org/drawingml/2006/main">
              <a:ext uri="{FF2B5EF4-FFF2-40B4-BE49-F238E27FC236}">
                <a16:creationId xmlns:a16="http://schemas.microsoft.com/office/drawing/2014/main" id="{EC5B929B-7734-4DDF-82CC-B94927BB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Agent Workspace</a:t>
            </a:r>
          </a:p>
        </p:txBody>
      </p:sp>
      <p:sp>
        <p:nvSpPr>
          <p:cNvPr id="2" name="05 / 10">
            <a:extLst xmlns:a="http://schemas.openxmlformats.org/drawingml/2006/main">
              <a:ext uri="{FF2B5EF4-FFF2-40B4-BE49-F238E27FC236}">
                <a16:creationId xmlns:a16="http://schemas.microsoft.com/office/drawing/2014/main" id="{C2043ED2-4ACE-4206-9574-4F6C0A19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29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05 / 10</a:t>
            </a:r>
          </a:p>
        </p:txBody>
      </p:sp>
      <p:sp>
        <p:nvSpPr>
          <p:cNvPr id="3" name="技能沉淀">
            <a:extLst xmlns:a="http://schemas.openxmlformats.org/drawingml/2006/main">
              <a:ext uri="{FF2B5EF4-FFF2-40B4-BE49-F238E27FC236}">
                <a16:creationId xmlns:a16="http://schemas.microsoft.com/office/drawing/2014/main" id="{96DC46D7-0B1A-4B8A-B1B8-1D0AE2BE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rPr>
              <a:t>技能沉淀</a:t>
            </a:r>
          </a:p>
        </p:txBody>
      </p:sp>
      <p:sp>
        <p:nvSpPr>
          <p:cNvPr id="4" name="把业务方法写进 Skill">
            <a:extLst xmlns:a="http://schemas.openxmlformats.org/drawingml/2006/main">
              <a:ext uri="{FF2B5EF4-FFF2-40B4-BE49-F238E27FC236}">
                <a16:creationId xmlns:a16="http://schemas.microsoft.com/office/drawing/2014/main" id="{F33BAEF1-F8F0-48A8-A8BF-2E108408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162EF"/>
                </a:solidFill>
                <a:latin typeface="PingFang SC"/>
                <a:ea typeface="PingFang SC"/>
                <a:cs typeface="PingFang SC"/>
              </a:rPr>
              <a:t>把业务方法写进 Skill</a:t>
            </a:r>
          </a:p>
        </p:txBody>
      </p:sp>
      <p:sp>
        <p:nvSpPr>
          <p:cNvPr id="5" name="输入要求">
            <a:extLst xmlns:a="http://schemas.openxmlformats.org/drawingml/2006/main">
              <a:ext uri="{FF2B5EF4-FFF2-40B4-BE49-F238E27FC236}">
                <a16:creationId xmlns:a16="http://schemas.microsoft.com/office/drawing/2014/main" id="{E181C99F-FB40-4119-B4C8-7EF56546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1857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rPr>
              <a:t>输入要求</a:t>
            </a:r>
          </a:p>
        </p:txBody>
      </p:sp>
      <p:sp>
        <p:nvSpPr>
          <p:cNvPr id="6" name="开始前需要什么资料">
            <a:extLst xmlns:a="http://schemas.openxmlformats.org/drawingml/2006/main">
              <a:ext uri="{FF2B5EF4-FFF2-40B4-BE49-F238E27FC236}">
                <a16:creationId xmlns:a16="http://schemas.microsoft.com/office/drawing/2014/main" id="{86B6D763-EEC9-4DB8-8163-8D17AFFD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28950"/>
            <a:ext cx="4191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开始前需要什么资料</a:t>
            </a:r>
          </a:p>
        </p:txBody>
      </p:sp>
      <p:sp>
        <p:nvSpPr>
          <p:cNvPr id="7" name="操作步骤">
            <a:extLst xmlns:a="http://schemas.openxmlformats.org/drawingml/2006/main">
              <a:ext uri="{FF2B5EF4-FFF2-40B4-BE49-F238E27FC236}">
                <a16:creationId xmlns:a16="http://schemas.microsoft.com/office/drawing/2014/main" id="{E14A077E-857E-4378-8932-CCD5CFF4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857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rPr>
              <a:t>操作步骤</a:t>
            </a:r>
          </a:p>
        </p:txBody>
      </p:sp>
      <p:sp>
        <p:nvSpPr>
          <p:cNvPr id="8" name="按什么顺序开展工作">
            <a:extLst xmlns:a="http://schemas.openxmlformats.org/drawingml/2006/main">
              <a:ext uri="{FF2B5EF4-FFF2-40B4-BE49-F238E27FC236}">
                <a16:creationId xmlns:a16="http://schemas.microsoft.com/office/drawing/2014/main" id="{22D4B129-F4BB-48C3-8AEC-E830E5E0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743325"/>
            <a:ext cx="4191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按什么顺序开展工作</a:t>
            </a:r>
          </a:p>
        </p:txBody>
      </p:sp>
      <p:sp>
        <p:nvSpPr>
          <p:cNvPr id="9" name="判断规则">
            <a:extLst xmlns:a="http://schemas.openxmlformats.org/drawingml/2006/main">
              <a:ext uri="{FF2B5EF4-FFF2-40B4-BE49-F238E27FC236}">
                <a16:creationId xmlns:a16="http://schemas.microsoft.com/office/drawing/2014/main" id="{C037D686-8764-4BB5-9E33-803B1B12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1857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rPr>
              <a:t>判断规则</a:t>
            </a:r>
          </a:p>
        </p:txBody>
      </p:sp>
      <p:sp>
        <p:nvSpPr>
          <p:cNvPr id="10" name="何时继续、追问或停止">
            <a:extLst xmlns:a="http://schemas.openxmlformats.org/drawingml/2006/main">
              <a:ext uri="{FF2B5EF4-FFF2-40B4-BE49-F238E27FC236}">
                <a16:creationId xmlns:a16="http://schemas.microsoft.com/office/drawing/2014/main" id="{AB31D3EA-07AC-4959-A6EB-5ECC4C96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457700"/>
            <a:ext cx="4191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何时继续、追问或停止</a:t>
            </a:r>
          </a:p>
        </p:txBody>
      </p:sp>
      <p:sp>
        <p:nvSpPr>
          <p:cNvPr id="11" name="交付标准">
            <a:extLst xmlns:a="http://schemas.openxmlformats.org/drawingml/2006/main">
              <a:ext uri="{FF2B5EF4-FFF2-40B4-BE49-F238E27FC236}">
                <a16:creationId xmlns:a16="http://schemas.microsoft.com/office/drawing/2014/main" id="{E8B245F9-D3C5-4D0E-A893-7FA60AD4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857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01F3C"/>
                </a:solidFill>
                <a:latin typeface="PingFang SC"/>
                <a:ea typeface="PingFang SC"/>
                <a:cs typeface="PingFang SC"/>
              </a:rPr>
              <a:t>交付标准</a:t>
            </a:r>
          </a:p>
        </p:txBody>
      </p:sp>
      <p:sp>
        <p:nvSpPr>
          <p:cNvPr id="12" name="结果格式与证据要求">
            <a:extLst xmlns:a="http://schemas.openxmlformats.org/drawingml/2006/main">
              <a:ext uri="{FF2B5EF4-FFF2-40B4-BE49-F238E27FC236}">
                <a16:creationId xmlns:a16="http://schemas.microsoft.com/office/drawing/2014/main" id="{5A72F9D2-8CFA-476D-9E63-6151C617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172075"/>
            <a:ext cx="4191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结果格式与证据要求</a:t>
            </a:r>
          </a:p>
        </p:txBody>
      </p:sp>
      <p:sp>
        <p:nvSpPr>
          <p:cNvPr id="13" name="商品研究">
            <a:extLst xmlns:a="http://schemas.openxmlformats.org/drawingml/2006/main">
              <a:ext uri="{FF2B5EF4-FFF2-40B4-BE49-F238E27FC236}">
                <a16:creationId xmlns:a16="http://schemas.microsoft.com/office/drawing/2014/main" id="{581B628B-4BC4-495A-9990-9FE23E12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38475"/>
            <a:ext cx="3810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7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101F3C"/>
                </a:solidFill>
                <a:latin typeface="PingFang SC"/>
                <a:ea typeface="PingFang SC"/>
                <a:cs typeface="PingFang SC"/>
              </a:rPr>
              <a:t>商品研究</a:t>
            </a:r>
          </a:p>
        </p:txBody>
      </p:sp>
      <p:sp>
        <p:nvSpPr>
          <p:cNvPr id="14" name="补齐成本与约束">
            <a:extLst xmlns:a="http://schemas.openxmlformats.org/drawingml/2006/main">
              <a:ext uri="{FF2B5EF4-FFF2-40B4-BE49-F238E27FC236}">
                <a16:creationId xmlns:a16="http://schemas.microsoft.com/office/drawing/2014/main" id="{A3E1C868-F7BC-471B-BE2F-96101E44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14775"/>
            <a:ext cx="381000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补齐成本与约束</a:t>
            </a:r>
          </a:p>
          <a:p xmlns:a="http://schemas.openxmlformats.org/drawingml/2006/main">
            <a: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调查需求与竞争</a:t>
            </a:r>
          </a:p>
          <a:p xmlns:a="http://schemas.openxmlformats.org/drawingml/2006/main">
            <a: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提交来源与判断</a:t>
            </a:r>
          </a:p>
        </p:txBody>
      </p:sp>
      <p:sp>
        <p:nvSpPr>
          <p:cNvPr id="15" name="内容示例">
            <a:extLst xmlns:a="http://schemas.openxmlformats.org/drawingml/2006/main">
              <a:ext uri="{FF2B5EF4-FFF2-40B4-BE49-F238E27FC236}">
                <a16:creationId xmlns:a16="http://schemas.microsoft.com/office/drawing/2014/main" id="{73400297-C69C-47E8-BB70-52513F42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812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75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75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75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75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75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75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75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75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75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内容示例</a:t>
            </a:r>
          </a:p>
        </p:txBody>
      </p:sp>
      <p:sp>
        <p:nvSpPr>
          <p:cNvPr id="16" name="Git 或 ZIP 安装，冻结修订参与执行。">
            <a:extLst xmlns:a="http://schemas.openxmlformats.org/drawingml/2006/main">
              <a:ext uri="{FF2B5EF4-FFF2-40B4-BE49-F238E27FC236}">
                <a16:creationId xmlns:a16="http://schemas.microsoft.com/office/drawing/2014/main" id="{AAAD1AA1-652B-4427-9AC8-55E9A787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rPr>
              <a:t>Git 或 ZIP 安装，冻结修订参与执行。</a:t>
            </a:r>
          </a:p>
        </p:txBody>
      </p:sp>
    </p:spTree>
    <p:extLst>
      <p:ext uri="{BB962C8B-B14F-4D97-AF65-F5344CB8AC3E}">
        <p14:creationId xmlns:p14="http://schemas.microsoft.com/office/powerpoint/2010/main" val="3325458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5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gent Workspace">
            <a:extLst xmlns:a="http://schemas.openxmlformats.org/drawingml/2006/main">
              <a:ext uri="{FF2B5EF4-FFF2-40B4-BE49-F238E27FC236}">
                <a16:creationId xmlns:a16="http://schemas.microsoft.com/office/drawing/2014/main" id="{32AD3F90-0D72-4FF5-860C-9D22E94E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rPr>
              <a:t>Agent Workspace</a:t>
            </a:r>
          </a:p>
        </p:txBody>
      </p:sp>
      <p:sp>
        <p:nvSpPr>
          <p:cNvPr id="2" name="06 / 10">
            <a:extLst xmlns:a="http://schemas.openxmlformats.org/drawingml/2006/main">
              <a:ext uri="{FF2B5EF4-FFF2-40B4-BE49-F238E27FC236}">
                <a16:creationId xmlns:a16="http://schemas.microsoft.com/office/drawing/2014/main" id="{FB946796-F24D-457F-8103-DA10B889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29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rPr>
              <a:t>06 / 10</a:t>
            </a:r>
          </a:p>
        </p:txBody>
      </p:sp>
      <p:sp>
        <p:nvSpPr>
          <p:cNvPr id="3" name="专家和专家团队复用">
            <a:extLst xmlns:a="http://schemas.openxmlformats.org/drawingml/2006/main">
              <a:ext uri="{FF2B5EF4-FFF2-40B4-BE49-F238E27FC236}">
                <a16:creationId xmlns:a16="http://schemas.microsoft.com/office/drawing/2014/main" id="{C512A0AB-A83D-4089-B5C9-D4FF24ED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专家和专家团队复用</a:t>
            </a:r>
          </a:p>
        </p:txBody>
      </p:sp>
      <p:sp>
        <p:nvSpPr>
          <p:cNvPr id="4" name="Expert">
            <a:extLst xmlns:a="http://schemas.openxmlformats.org/drawingml/2006/main">
              <a:ext uri="{FF2B5EF4-FFF2-40B4-BE49-F238E27FC236}">
                <a16:creationId xmlns:a16="http://schemas.microsoft.com/office/drawing/2014/main" id="{625D5D6B-C666-4713-9EFA-1BA09E03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75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75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75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75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75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75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75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75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75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075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7CE5CF"/>
                </a:solidFill>
                <a:latin typeface="PingFang SC"/>
                <a:ea typeface="PingFang SC"/>
                <a:cs typeface="PingFang SC"/>
              </a:rPr>
              <a:t>Expert</a:t>
            </a:r>
          </a:p>
        </p:txBody>
      </p:sp>
      <p:sp>
        <p:nvSpPr>
          <p:cNvPr id="5" name="专业指导与工作方法">
            <a:extLst xmlns:a="http://schemas.openxmlformats.org/drawingml/2006/main">
              <a:ext uri="{FF2B5EF4-FFF2-40B4-BE49-F238E27FC236}">
                <a16:creationId xmlns:a16="http://schemas.microsoft.com/office/drawing/2014/main" id="{57BAF4C4-7909-4A4C-AA42-53DA73E4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4000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B7C7E3"/>
                </a:solidFill>
                <a:latin typeface="PingFang SC"/>
                <a:ea typeface="PingFang SC"/>
                <a:cs typeface="PingFang SC"/>
              </a:rPr>
              <a:t>专业指导与工作方法</a:t>
            </a:r>
          </a:p>
          <a:p xmlns:a="http://schemas.openxmlformats.org/drawingml/2006/main">
            <a:pPr>
              <a:defRPr sz="217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B7C7E3"/>
                </a:solidFill>
                <a:latin typeface="PingFang SC"/>
                <a:ea typeface="PingFang SC"/>
                <a:cs typeface="PingFang SC"/>
              </a:rPr>
              <a:t>输出要求与资源绑定</a:t>
            </a:r>
          </a:p>
        </p:txBody>
      </p:sp>
      <p:sp>
        <p:nvSpPr>
          <p:cNvPr id="6" name="Expert Team">
            <a:extLst xmlns:a="http://schemas.openxmlformats.org/drawingml/2006/main">
              <a:ext uri="{FF2B5EF4-FFF2-40B4-BE49-F238E27FC236}">
                <a16:creationId xmlns:a16="http://schemas.microsoft.com/office/drawing/2014/main" id="{4A4208A7-ED04-4C0F-B952-A1D852B4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404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925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925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925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925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925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925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925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925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925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925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7CE5CF"/>
                </a:solidFill>
                <a:latin typeface="PingFang SC"/>
                <a:ea typeface="PingFang SC"/>
                <a:cs typeface="PingFang SC"/>
              </a:rPr>
              <a:t>Expert Team</a:t>
            </a:r>
          </a:p>
        </p:txBody>
      </p:sp>
      <p:sp>
        <p:nvSpPr>
          <p:cNvPr id="7" name="领队协调成员分工">
            <a:extLst xmlns:a="http://schemas.openxmlformats.org/drawingml/2006/main">
              <a:ext uri="{FF2B5EF4-FFF2-40B4-BE49-F238E27FC236}">
                <a16:creationId xmlns:a16="http://schemas.microsoft.com/office/drawing/2014/main" id="{1A94DD9B-C366-4081-89AE-C343E46F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0481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B7C7E3"/>
                </a:solidFill>
                <a:latin typeface="PingFang SC"/>
                <a:ea typeface="PingFang SC"/>
                <a:cs typeface="PingFang SC"/>
              </a:rPr>
              <a:t>领队协调成员分工</a:t>
            </a:r>
          </a:p>
          <a:p xmlns:a="http://schemas.openxmlformats.org/drawingml/2006/main">
            <a:pPr>
              <a:defRPr sz="217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B7C7E3"/>
                </a:solidFill>
                <a:latin typeface="PingFang SC"/>
                <a:ea typeface="PingFang SC"/>
                <a:cs typeface="PingFang SC"/>
              </a:rPr>
              <a:t>汇总形成正式结果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925D4-86DD-4A24-BCBF-13A0CF9EF4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57ff810ad4885"/>
          <a:srcRect xmlns:a="http://schemas.openxmlformats.org/drawingml/2006/main" l="18333" t="12400" r="1111" b="24600"/>
          <a:stretch xmlns:a="http://schemas.openxmlformats.org/drawingml/2006/main"/>
        </p:blipFill>
        <p:spPr>
          <a:xfrm xmlns:a="http://schemas.openxmlformats.org/drawingml/2006/main">
            <a:off x="4905375" y="2200275"/>
            <a:ext cx="6677025" cy="3648075"/>
          </a:xfrm>
          <a:prstGeom xmlns:a="http://schemas.openxmlformats.org/drawingml/2006/main" prst="rect">
            <a:avLst/>
          </a:prstGeom>
        </p:spPr>
      </p:pic>
      <p:sp>
        <p:nvSpPr>
          <p:cNvPr id="9" name="平台或部门资源按权限共享，个人会话保持私有。">
            <a:extLst xmlns:a="http://schemas.openxmlformats.org/drawingml/2006/main">
              <a:ext uri="{FF2B5EF4-FFF2-40B4-BE49-F238E27FC236}">
                <a16:creationId xmlns:a16="http://schemas.microsoft.com/office/drawing/2014/main" id="{13D028D1-419F-4853-BAB6-8E553AA3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B7C7E3"/>
                </a:solidFill>
                <a:latin typeface="PingFang SC"/>
                <a:ea typeface="PingFang SC"/>
                <a:cs typeface="PingFang SC"/>
              </a:rPr>
              <a:t>平台或部门资源按权限共享，个人会话保持私有。</a:t>
            </a:r>
          </a:p>
        </p:txBody>
      </p:sp>
    </p:spTree>
    <p:extLst>
      <p:ext uri="{BB962C8B-B14F-4D97-AF65-F5344CB8AC3E}">
        <p14:creationId xmlns:p14="http://schemas.microsoft.com/office/powerpoint/2010/main" val="3619859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gent Workspace">
            <a:extLst xmlns:a="http://schemas.openxmlformats.org/drawingml/2006/main">
              <a:ext uri="{FF2B5EF4-FFF2-40B4-BE49-F238E27FC236}">
                <a16:creationId xmlns:a16="http://schemas.microsoft.com/office/drawing/2014/main" id="{5AC0FD69-EEED-4F06-88FC-37830535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Agent Workspace</a:t>
            </a:r>
          </a:p>
        </p:txBody>
      </p:sp>
      <p:sp>
        <p:nvSpPr>
          <p:cNvPr id="2" name="07 / 10">
            <a:extLst xmlns:a="http://schemas.openxmlformats.org/drawingml/2006/main">
              <a:ext uri="{FF2B5EF4-FFF2-40B4-BE49-F238E27FC236}">
                <a16:creationId xmlns:a16="http://schemas.microsoft.com/office/drawing/2014/main" id="{403C0E5A-C6D0-44EA-A1CD-EE467CE3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29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07 / 10</a:t>
            </a:r>
          </a:p>
        </p:txBody>
      </p:sp>
      <p:sp>
        <p:nvSpPr>
          <p:cNvPr id="3" name="连接器复用">
            <a:extLst xmlns:a="http://schemas.openxmlformats.org/drawingml/2006/main">
              <a:ext uri="{FF2B5EF4-FFF2-40B4-BE49-F238E27FC236}">
                <a16:creationId xmlns:a16="http://schemas.microsoft.com/office/drawing/2014/main" id="{93FF516B-7301-4068-86D1-F083C1E2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rPr>
              <a:t>连接器复用</a:t>
            </a:r>
          </a:p>
        </p:txBody>
      </p:sp>
      <p:sp>
        <p:nvSpPr>
          <p:cNvPr id="4" name="企业维护">
            <a:extLst xmlns:a="http://schemas.openxmlformats.org/drawingml/2006/main">
              <a:ext uri="{FF2B5EF4-FFF2-40B4-BE49-F238E27FC236}">
                <a16:creationId xmlns:a16="http://schemas.microsoft.com/office/drawing/2014/main" id="{94F2738C-5FCA-4061-A78E-E2757BBB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51435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52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52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52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52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52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52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52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52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52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52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2162EF"/>
                </a:solidFill>
                <a:latin typeface="PingFang SC"/>
                <a:ea typeface="PingFang SC"/>
                <a:cs typeface="PingFang SC"/>
              </a:rPr>
              <a:t>企业维护</a:t>
            </a:r>
          </a:p>
          <a:p xmlns:a="http://schemas.openxmlformats.org/drawingml/2006/main">
            <a:pPr>
              <a:defRPr sz="352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2162EF"/>
                </a:solidFill>
                <a:latin typeface="PingFang SC"/>
                <a:ea typeface="PingFang SC"/>
                <a:cs typeface="PingFang SC"/>
              </a:rPr>
              <a:t>接入定义</a:t>
            </a:r>
          </a:p>
        </p:txBody>
      </p:sp>
      <p:sp>
        <p:nvSpPr>
          <p:cNvPr id="5" name="员工完成">
            <a:extLst xmlns:a="http://schemas.openxmlformats.org/drawingml/2006/main">
              <a:ext uri="{FF2B5EF4-FFF2-40B4-BE49-F238E27FC236}">
                <a16:creationId xmlns:a16="http://schemas.microsoft.com/office/drawing/2014/main" id="{FB3B6D0E-A62D-407A-A034-DEA59153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0275"/>
            <a:ext cx="500062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5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5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5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5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5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5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5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5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5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5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101F3C"/>
                </a:solidFill>
                <a:latin typeface="PingFang SC"/>
                <a:ea typeface="PingFang SC"/>
                <a:cs typeface="PingFang SC"/>
              </a:rPr>
              <a:t>员工完成</a:t>
            </a:r>
          </a:p>
          <a:p xmlns:a="http://schemas.openxmlformats.org/drawingml/2006/main">
            <a:pPr>
              <a:defRPr sz="35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101F3C"/>
                </a:solidFill>
                <a:latin typeface="PingFang SC"/>
                <a:ea typeface="PingFang SC"/>
                <a:cs typeface="PingFang SC"/>
              </a:rPr>
              <a:t>个人授权</a:t>
            </a:r>
          </a:p>
        </p:txBody>
      </p:sp>
      <p:sp>
        <p:nvSpPr>
          <p:cNvPr id="6" name="统一可用连接器">
            <a:extLst xmlns:a="http://schemas.openxmlformats.org/drawingml/2006/main">
              <a:ext uri="{FF2B5EF4-FFF2-40B4-BE49-F238E27FC236}">
                <a16:creationId xmlns:a16="http://schemas.microsoft.com/office/drawing/2014/main" id="{3313EF75-911E-49BC-BAC6-6D4DCD3D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统一可用连接器</a:t>
            </a:r>
          </a:p>
          <a:p xmlns:a="http://schemas.openxmlformats.org/drawingml/2006/main">
            <a: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接入同一 Agent 执行环境</a:t>
            </a:r>
          </a:p>
        </p:txBody>
      </p:sp>
      <p:sp>
        <p:nvSpPr>
          <p:cNvPr id="7" name="用自己的身份">
            <a:extLst xmlns:a="http://schemas.openxmlformats.org/drawingml/2006/main">
              <a:ext uri="{FF2B5EF4-FFF2-40B4-BE49-F238E27FC236}">
                <a16:creationId xmlns:a16="http://schemas.microsoft.com/office/drawing/2014/main" id="{0DFF328C-07B6-45AF-96D4-1ECCB47D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14775"/>
            <a:ext cx="5000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用自己的身份</a:t>
            </a:r>
          </a:p>
          <a:p xmlns:a="http://schemas.openxmlformats.org/drawingml/2006/main">
            <a:pPr>
              <a:def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访问获准的外部资源</a:t>
            </a:r>
          </a:p>
        </p:txBody>
      </p:sp>
      <p:sp>
        <p:nvSpPr>
          <p:cNvPr id="8" name="文档与知识">
            <a:extLst xmlns:a="http://schemas.openxmlformats.org/drawingml/2006/main">
              <a:ext uri="{FF2B5EF4-FFF2-40B4-BE49-F238E27FC236}">
                <a16:creationId xmlns:a16="http://schemas.microsoft.com/office/drawing/2014/main" id="{D9C34D96-4AF3-4B41-BEA4-9CCF57BC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3476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rPr>
              <a:t>文档与知识</a:t>
            </a:r>
          </a:p>
        </p:txBody>
      </p:sp>
      <p:sp>
        <p:nvSpPr>
          <p:cNvPr id="9" name="消息与协作">
            <a:extLst xmlns:a="http://schemas.openxmlformats.org/drawingml/2006/main">
              <a:ext uri="{FF2B5EF4-FFF2-40B4-BE49-F238E27FC236}">
                <a16:creationId xmlns:a16="http://schemas.microsoft.com/office/drawing/2014/main" id="{0730AFEF-C7AF-439C-882D-BA09C519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476875"/>
            <a:ext cx="3476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rPr>
              <a:t>消息与协作</a:t>
            </a:r>
          </a:p>
        </p:txBody>
      </p:sp>
      <p:sp>
        <p:nvSpPr>
          <p:cNvPr id="10" name="业务数据与服务">
            <a:extLst xmlns:a="http://schemas.openxmlformats.org/drawingml/2006/main">
              <a:ext uri="{FF2B5EF4-FFF2-40B4-BE49-F238E27FC236}">
                <a16:creationId xmlns:a16="http://schemas.microsoft.com/office/drawing/2014/main" id="{E472D835-58BA-4FE1-A2D0-351FEBC3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76875"/>
            <a:ext cx="323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162EF"/>
                </a:solidFill>
                <a:latin typeface="PingFang SC"/>
                <a:ea typeface="PingFang SC"/>
                <a:cs typeface="PingFang SC"/>
              </a:rPr>
              <a:t>业务数据与服务</a:t>
            </a:r>
          </a:p>
        </p:txBody>
      </p:sp>
      <p:sp>
        <p:nvSpPr>
          <p:cNvPr id="11" name="共享工具定义，保留个人身份、权限和操作确认边界。">
            <a:extLst xmlns:a="http://schemas.openxmlformats.org/drawingml/2006/main">
              <a:ext uri="{FF2B5EF4-FFF2-40B4-BE49-F238E27FC236}">
                <a16:creationId xmlns:a16="http://schemas.microsoft.com/office/drawing/2014/main" id="{FC97F12E-F45F-49E9-87D8-1B206179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共享工具定义，保留个人身份、权限和操作确认边界。</a:t>
            </a:r>
          </a:p>
        </p:txBody>
      </p:sp>
    </p:spTree>
    <p:extLst>
      <p:ext uri="{BB962C8B-B14F-4D97-AF65-F5344CB8AC3E}">
        <p14:creationId xmlns:p14="http://schemas.microsoft.com/office/powerpoint/2010/main" val="16203189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5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gent Workspace">
            <a:extLst xmlns:a="http://schemas.openxmlformats.org/drawingml/2006/main">
              <a:ext uri="{FF2B5EF4-FFF2-40B4-BE49-F238E27FC236}">
                <a16:creationId xmlns:a16="http://schemas.microsoft.com/office/drawing/2014/main" id="{5C33611B-F21E-458A-90DD-AFAA0F7F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7C7E3"/>
                </a:solidFill>
                <a:latin typeface="PingFang SC"/>
                <a:ea typeface="PingFang SC"/>
                <a:cs typeface="PingFang SC"/>
              </a:rPr>
              <a:t>Agent Workspace</a:t>
            </a:r>
          </a:p>
        </p:txBody>
      </p:sp>
      <p:sp>
        <p:nvSpPr>
          <p:cNvPr id="2" name="08 / 10">
            <a:extLst xmlns:a="http://schemas.openxmlformats.org/drawingml/2006/main">
              <a:ext uri="{FF2B5EF4-FFF2-40B4-BE49-F238E27FC236}">
                <a16:creationId xmlns:a16="http://schemas.microsoft.com/office/drawing/2014/main" id="{2FAC6948-7CC7-49BB-8949-A610FEC5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29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7C7E3"/>
                </a:solidFill>
                <a:latin typeface="PingFang SC"/>
                <a:ea typeface="PingFang SC"/>
                <a:cs typeface="PingFang SC"/>
              </a:rPr>
              <a:t>08 / 10</a:t>
            </a:r>
          </a:p>
        </p:txBody>
      </p:sp>
      <p:sp>
        <p:nvSpPr>
          <p:cNvPr id="3" name="消息渠道打通">
            <a:extLst xmlns:a="http://schemas.openxmlformats.org/drawingml/2006/main">
              <a:ext uri="{FF2B5EF4-FFF2-40B4-BE49-F238E27FC236}">
                <a16:creationId xmlns:a16="http://schemas.microsoft.com/office/drawing/2014/main" id="{C371DB81-8467-481B-9E97-094DCD05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消息渠道打通</a:t>
            </a:r>
          </a:p>
        </p:txBody>
      </p:sp>
      <p:sp>
        <p:nvSpPr>
          <p:cNvPr id="4" name="在日常聊天中使用 Agent">
            <a:extLst xmlns:a="http://schemas.openxmlformats.org/drawingml/2006/main">
              <a:ext uri="{FF2B5EF4-FFF2-40B4-BE49-F238E27FC236}">
                <a16:creationId xmlns:a16="http://schemas.microsoft.com/office/drawing/2014/main" id="{E0CE271D-8FB0-42F6-AAF0-36B71C0C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825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825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825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825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825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825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825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825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825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825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pPr>
            <a:r>
              <a:rPr sz="3825" b="1">
                <a:solidFill>
                  <a:srgbClr val="7CE5CF"/>
                </a:solidFill>
                <a:latin typeface="PingFang SC"/>
                <a:ea typeface="PingFang SC"/>
                <a:cs typeface="PingFang SC"/>
              </a:rPr>
              <a:t>在日常聊天中使用 Agent</a:t>
            </a:r>
          </a:p>
        </p:txBody>
      </p:sp>
      <p:sp>
        <p:nvSpPr>
          <p:cNvPr id="5" name="飞书、钉钉、企业微信、微信等渠道">
            <a:extLst xmlns:a="http://schemas.openxmlformats.org/drawingml/2006/main">
              <a:ext uri="{FF2B5EF4-FFF2-40B4-BE49-F238E27FC236}">
                <a16:creationId xmlns:a16="http://schemas.microsoft.com/office/drawing/2014/main" id="{7E660CDE-DDC7-4BEB-B175-77EFDC4C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B7C7E3"/>
                </a:solidFill>
                <a:latin typeface="PingFang SC"/>
                <a:ea typeface="PingFang SC"/>
                <a:cs typeface="PingFang SC"/>
              </a:rPr>
              <a:t>飞书、钉钉、企业微信、微信等渠道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728511BB-0B77-42E1-A53E-9C7A8EF0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收到消息">
            <a:extLst xmlns:a="http://schemas.openxmlformats.org/drawingml/2006/main">
              <a:ext uri="{FF2B5EF4-FFF2-40B4-BE49-F238E27FC236}">
                <a16:creationId xmlns:a16="http://schemas.microsoft.com/office/drawing/2014/main" id="{2BF53B37-C20B-416D-B6AF-4DB10CD3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257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收到消息</a:t>
            </a:r>
          </a:p>
        </p:txBody>
      </p:sp>
      <p:sp>
        <p:nvSpPr>
          <p:cNvPr id="8" name="允许的聊天入口">
            <a:extLst xmlns:a="http://schemas.openxmlformats.org/drawingml/2006/main">
              <a:ext uri="{FF2B5EF4-FFF2-40B4-BE49-F238E27FC236}">
                <a16:creationId xmlns:a16="http://schemas.microsoft.com/office/drawing/2014/main" id="{D7E0D9AF-96F5-4622-83C4-F8AC7BA4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rPr>
              <a:t>允许的聊天入口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DE2AEB6D-CBF6-475B-8390-1F4C60AB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481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校验受众">
            <a:extLst xmlns:a="http://schemas.openxmlformats.org/drawingml/2006/main">
              <a:ext uri="{FF2B5EF4-FFF2-40B4-BE49-F238E27FC236}">
                <a16:creationId xmlns:a16="http://schemas.microsoft.com/office/drawing/2014/main" id="{E8F05572-1E26-43F9-A717-08231284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76775"/>
            <a:ext cx="257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校验受众</a:t>
            </a:r>
          </a:p>
        </p:txBody>
      </p:sp>
      <p:sp>
        <p:nvSpPr>
          <p:cNvPr id="11" name="发送者与群聊范围">
            <a:extLst xmlns:a="http://schemas.openxmlformats.org/drawingml/2006/main">
              <a:ext uri="{FF2B5EF4-FFF2-40B4-BE49-F238E27FC236}">
                <a16:creationId xmlns:a16="http://schemas.microsoft.com/office/drawing/2014/main" id="{44AA8836-AC7A-43CF-A23B-CD01538E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3149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rPr>
              <a:t>发送者与群聊范围</a:t>
            </a:r>
          </a:p>
        </p:txBody>
      </p:sp>
      <p:sp>
        <p:nvSpPr>
          <p:cNvPr id="12" name="03">
            <a:extLst xmlns:a="http://schemas.openxmlformats.org/drawingml/2006/main">
              <a:ext uri="{FF2B5EF4-FFF2-40B4-BE49-F238E27FC236}">
                <a16:creationId xmlns:a16="http://schemas.microsoft.com/office/drawing/2014/main" id="{6AC84095-484D-4854-8400-08876E22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481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执行任务">
            <a:extLst xmlns:a="http://schemas.openxmlformats.org/drawingml/2006/main">
              <a:ext uri="{FF2B5EF4-FFF2-40B4-BE49-F238E27FC236}">
                <a16:creationId xmlns:a16="http://schemas.microsoft.com/office/drawing/2014/main" id="{4DB9AAC8-01FC-4EBD-9F21-9E69BC72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76775"/>
            <a:ext cx="257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执行任务</a:t>
            </a:r>
          </a:p>
        </p:txBody>
      </p:sp>
      <p:sp>
        <p:nvSpPr>
          <p:cNvPr id="14" name="沿用 Workflow 配置">
            <a:extLst xmlns:a="http://schemas.openxmlformats.org/drawingml/2006/main">
              <a:ext uri="{FF2B5EF4-FFF2-40B4-BE49-F238E27FC236}">
                <a16:creationId xmlns:a16="http://schemas.microsoft.com/office/drawing/2014/main" id="{28D63C6A-7259-4274-ABDE-92E5B2A3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149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rPr>
              <a:t>沿用 Workflow 配置</a:t>
            </a:r>
          </a:p>
        </p:txBody>
      </p:sp>
      <p:sp>
        <p:nvSpPr>
          <p:cNvPr id="15" name="04">
            <a:extLst xmlns:a="http://schemas.openxmlformats.org/drawingml/2006/main">
              <a:ext uri="{FF2B5EF4-FFF2-40B4-BE49-F238E27FC236}">
                <a16:creationId xmlns:a16="http://schemas.microsoft.com/office/drawing/2014/main" id="{8D461095-AD9B-4469-A97D-CB9F1A4A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481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7CE5C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6" name="返回结果">
            <a:extLst xmlns:a="http://schemas.openxmlformats.org/drawingml/2006/main">
              <a:ext uri="{FF2B5EF4-FFF2-40B4-BE49-F238E27FC236}">
                <a16:creationId xmlns:a16="http://schemas.microsoft.com/office/drawing/2014/main" id="{0662DC76-21F6-4A62-85F7-220F1431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76775"/>
            <a:ext cx="257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返回结果</a:t>
            </a:r>
          </a:p>
        </p:txBody>
      </p:sp>
      <p:sp>
        <p:nvSpPr>
          <p:cNvPr id="17" name="原聊天回复与追问">
            <a:extLst xmlns:a="http://schemas.openxmlformats.org/drawingml/2006/main">
              <a:ext uri="{FF2B5EF4-FFF2-40B4-BE49-F238E27FC236}">
                <a16:creationId xmlns:a16="http://schemas.microsoft.com/office/drawing/2014/main" id="{6E961C0A-1947-4FB7-B52E-0D56923B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3149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B7C7E3"/>
                </a:solidFill>
                <a:latin typeface="PingFang SC"/>
                <a:ea typeface="PingFang SC"/>
                <a:cs typeface="PingFang SC"/>
              </a:rPr>
              <a:t>原聊天回复与追问</a:t>
            </a:r>
          </a:p>
        </p:txBody>
      </p:sp>
      <p:sp>
        <p:nvSpPr>
          <p:cNvPr id="18" name="具体渠道需完成账号接入与真实收发验证，按部署环境启用。">
            <a:extLst xmlns:a="http://schemas.openxmlformats.org/drawingml/2006/main">
              <a:ext uri="{FF2B5EF4-FFF2-40B4-BE49-F238E27FC236}">
                <a16:creationId xmlns:a16="http://schemas.microsoft.com/office/drawing/2014/main" id="{F386F828-C098-4B9C-A675-4AB47C78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7C7E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B7C7E3"/>
                </a:solidFill>
                <a:latin typeface="PingFang SC"/>
                <a:ea typeface="PingFang SC"/>
                <a:cs typeface="PingFang SC"/>
              </a:rPr>
              <a:t>具体渠道需完成账号接入与真实收发验证，按部署环境启用。</a:t>
            </a:r>
          </a:p>
        </p:txBody>
      </p:sp>
    </p:spTree>
    <p:extLst>
      <p:ext uri="{BB962C8B-B14F-4D97-AF65-F5344CB8AC3E}">
        <p14:creationId xmlns:p14="http://schemas.microsoft.com/office/powerpoint/2010/main" val="13625249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gent Workspace">
            <a:extLst xmlns:a="http://schemas.openxmlformats.org/drawingml/2006/main">
              <a:ext uri="{FF2B5EF4-FFF2-40B4-BE49-F238E27FC236}">
                <a16:creationId xmlns:a16="http://schemas.microsoft.com/office/drawing/2014/main" id="{A9B0C808-7DD8-4828-A7FC-1540A18D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Agent Workspace</a:t>
            </a:r>
          </a:p>
        </p:txBody>
      </p:sp>
      <p:sp>
        <p:nvSpPr>
          <p:cNvPr id="2" name="09 / 10">
            <a:extLst xmlns:a="http://schemas.openxmlformats.org/drawingml/2006/main">
              <a:ext uri="{FF2B5EF4-FFF2-40B4-BE49-F238E27FC236}">
                <a16:creationId xmlns:a16="http://schemas.microsoft.com/office/drawing/2014/main" id="{AA098DB7-00F8-4061-870A-FE674A1C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29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09 / 10</a:t>
            </a:r>
          </a:p>
        </p:txBody>
      </p:sp>
      <p:sp>
        <p:nvSpPr>
          <p:cNvPr id="3" name="统一管理与权限边界">
            <a:extLst xmlns:a="http://schemas.openxmlformats.org/drawingml/2006/main">
              <a:ext uri="{FF2B5EF4-FFF2-40B4-BE49-F238E27FC236}">
                <a16:creationId xmlns:a16="http://schemas.microsoft.com/office/drawing/2014/main" id="{1A59E465-7B88-4B07-B500-DFCC6F50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rPr>
              <a:t>统一管理与权限边界</a:t>
            </a:r>
          </a:p>
        </p:txBody>
      </p:sp>
      <p:sp>
        <p:nvSpPr>
          <p:cNvPr id="4" name="账号与资源">
            <a:extLst xmlns:a="http://schemas.openxmlformats.org/drawingml/2006/main">
              <a:ext uri="{FF2B5EF4-FFF2-40B4-BE49-F238E27FC236}">
                <a16:creationId xmlns:a16="http://schemas.microsoft.com/office/drawing/2014/main" id="{A89A840A-1201-4E03-B1AE-EF1F7D2C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762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rPr>
              <a:t>账号与资源</a:t>
            </a:r>
          </a:p>
        </p:txBody>
      </p:sp>
      <p:sp>
        <p:nvSpPr>
          <p:cNvPr id="5" name="账号、部门范围与共享资源">
            <a:extLst xmlns:a="http://schemas.openxmlformats.org/drawingml/2006/main">
              <a:ext uri="{FF2B5EF4-FFF2-40B4-BE49-F238E27FC236}">
                <a16:creationId xmlns:a16="http://schemas.microsoft.com/office/drawing/2014/main" id="{7AA4223F-CCA8-470F-A686-56F130EC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2885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rPr>
              <a:t>账号、部门范围与共享资源</a:t>
            </a:r>
          </a:p>
        </p:txBody>
      </p:sp>
      <p:sp>
        <p:nvSpPr>
          <p:cNvPr id="6" name="个人内容">
            <a:extLst xmlns:a="http://schemas.openxmlformats.org/drawingml/2006/main">
              <a:ext uri="{FF2B5EF4-FFF2-40B4-BE49-F238E27FC236}">
                <a16:creationId xmlns:a16="http://schemas.microsoft.com/office/drawing/2014/main" id="{BE377BCA-1D4C-4FDC-96CC-6D7B4C27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3762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rPr>
              <a:t>个人内容</a:t>
            </a:r>
          </a:p>
        </p:txBody>
      </p:sp>
      <p:sp>
        <p:nvSpPr>
          <p:cNvPr id="7" name="会话、文件和私有资源隔离">
            <a:extLst xmlns:a="http://schemas.openxmlformats.org/drawingml/2006/main">
              <a:ext uri="{FF2B5EF4-FFF2-40B4-BE49-F238E27FC236}">
                <a16:creationId xmlns:a16="http://schemas.microsoft.com/office/drawing/2014/main" id="{9D74AF46-DCD1-4726-BBEA-16ADE994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90875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rPr>
              <a:t>会话、文件和私有资源隔离</a:t>
            </a:r>
          </a:p>
        </p:txBody>
      </p:sp>
      <p:sp>
        <p:nvSpPr>
          <p:cNvPr id="8" name="用量与预算">
            <a:extLst xmlns:a="http://schemas.openxmlformats.org/drawingml/2006/main">
              <a:ext uri="{FF2B5EF4-FFF2-40B4-BE49-F238E27FC236}">
                <a16:creationId xmlns:a16="http://schemas.microsoft.com/office/drawing/2014/main" id="{C6B3B2BC-5A18-48A7-B072-CECAA498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762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rPr>
              <a:t>用量与预算</a:t>
            </a:r>
          </a:p>
        </p:txBody>
      </p:sp>
      <p:sp>
        <p:nvSpPr>
          <p:cNvPr id="9" name="Credits 与适用的部门预算">
            <a:extLst xmlns:a="http://schemas.openxmlformats.org/drawingml/2006/main">
              <a:ext uri="{FF2B5EF4-FFF2-40B4-BE49-F238E27FC236}">
                <a16:creationId xmlns:a16="http://schemas.microsoft.com/office/drawing/2014/main" id="{1EB27B6E-C97E-432B-A204-3A8BD186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5290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rPr>
              <a:t>Credits 与适用的部门预算</a:t>
            </a:r>
          </a:p>
        </p:txBody>
      </p:sp>
      <p:sp>
        <p:nvSpPr>
          <p:cNvPr id="10" name="执行与授权">
            <a:extLst xmlns:a="http://schemas.openxmlformats.org/drawingml/2006/main">
              <a:ext uri="{FF2B5EF4-FFF2-40B4-BE49-F238E27FC236}">
                <a16:creationId xmlns:a16="http://schemas.microsoft.com/office/drawing/2014/main" id="{160FF4D6-45A9-4BB0-A38C-B4B3899C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3762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2162EF"/>
                </a:solidFill>
                <a:latin typeface="PingFang SC"/>
                <a:ea typeface="PingFang SC"/>
                <a:cs typeface="PingFang SC"/>
              </a:rPr>
              <a:t>执行与授权</a:t>
            </a:r>
          </a:p>
        </p:txBody>
      </p:sp>
      <p:sp>
        <p:nvSpPr>
          <p:cNvPr id="11" name="快照、操作确认与凭据脱敏">
            <a:extLst xmlns:a="http://schemas.openxmlformats.org/drawingml/2006/main">
              <a:ext uri="{FF2B5EF4-FFF2-40B4-BE49-F238E27FC236}">
                <a16:creationId xmlns:a16="http://schemas.microsoft.com/office/drawing/2014/main" id="{F8B43EC4-7A51-439D-BF57-5F785BD3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114925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01F3C"/>
                </a:solidFill>
                <a:latin typeface="PingFang SC"/>
                <a:ea typeface="PingFang SC"/>
                <a:cs typeface="PingFang SC"/>
              </a:rPr>
              <a:t>快照、操作确认与凭据脱敏</a:t>
            </a:r>
          </a:p>
        </p:txBody>
      </p:sp>
      <p:sp>
        <p:nvSpPr>
          <p:cNvPr id="12" name="统一建设与治理，仍然保留个人内容和外部授权边界。">
            <a:extLst xmlns:a="http://schemas.openxmlformats.org/drawingml/2006/main">
              <a:ext uri="{FF2B5EF4-FFF2-40B4-BE49-F238E27FC236}">
                <a16:creationId xmlns:a16="http://schemas.microsoft.com/office/drawing/2014/main" id="{1EE3E972-6122-451C-A3FE-6DBED01C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统一建设与治理，仍然保留个人内容和外部授权边界。</a:t>
            </a:r>
          </a:p>
        </p:txBody>
      </p:sp>
    </p:spTree>
    <p:extLst>
      <p:ext uri="{BB962C8B-B14F-4D97-AF65-F5344CB8AC3E}">
        <p14:creationId xmlns:p14="http://schemas.microsoft.com/office/powerpoint/2010/main" val="20976260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gent Workspace">
            <a:extLst xmlns:a="http://schemas.openxmlformats.org/drawingml/2006/main">
              <a:ext uri="{FF2B5EF4-FFF2-40B4-BE49-F238E27FC236}">
                <a16:creationId xmlns:a16="http://schemas.microsoft.com/office/drawing/2014/main" id="{010329CC-51AC-4387-8B7B-3801A205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Agent Workspace</a:t>
            </a:r>
          </a:p>
        </p:txBody>
      </p:sp>
      <p:sp>
        <p:nvSpPr>
          <p:cNvPr id="2" name="10 / 10">
            <a:extLst xmlns:a="http://schemas.openxmlformats.org/drawingml/2006/main">
              <a:ext uri="{FF2B5EF4-FFF2-40B4-BE49-F238E27FC236}">
                <a16:creationId xmlns:a16="http://schemas.microsoft.com/office/drawing/2014/main" id="{E94112C4-E79F-414B-9351-D7970DFA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29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3718B"/>
                </a:solidFill>
                <a:latin typeface="PingFang SC"/>
                <a:ea typeface="PingFang SC"/>
                <a:cs typeface="PingFang SC"/>
              </a:rPr>
              <a:t>10 / 10</a:t>
            </a:r>
          </a:p>
        </p:txBody>
      </p:sp>
      <p:sp>
        <p:nvSpPr>
          <p:cNvPr id="3" name="现场演示">
            <a:extLst xmlns:a="http://schemas.openxmlformats.org/drawingml/2006/main">
              <a:ext uri="{FF2B5EF4-FFF2-40B4-BE49-F238E27FC236}">
                <a16:creationId xmlns:a16="http://schemas.microsoft.com/office/drawing/2014/main" id="{3055175C-3301-4853-92A4-6A023EF9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01F3C"/>
                </a:solidFill>
                <a:latin typeface="PingFang SC"/>
                <a:ea typeface="PingFang SC"/>
                <a:cs typeface="PingFang SC"/>
              </a:rPr>
              <a:t>现场演示</a:t>
            </a:r>
          </a:p>
        </p:txBody>
      </p:sp>
      <p:sp>
        <p:nvSpPr>
          <p:cNvPr id="4" name="企业如何建设和使用 Agent">
            <a:extLst xmlns:a="http://schemas.openxmlformats.org/drawingml/2006/main">
              <a:ext uri="{FF2B5EF4-FFF2-40B4-BE49-F238E27FC236}">
                <a16:creationId xmlns:a16="http://schemas.microsoft.com/office/drawing/2014/main" id="{B678C05E-A9F3-4293-9989-60F433FE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2162EF"/>
                </a:solidFill>
                <a:latin typeface="PingFang SC"/>
                <a:ea typeface="PingFang SC"/>
                <a:cs typeface="PingFang SC"/>
              </a:rPr>
              <a:t>企业如何建设和使用 Agent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703F7436-0CD7-4BD9-ADBC-A81C1FD3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配置企业运行环境">
            <a:extLst xmlns:a="http://schemas.openxmlformats.org/drawingml/2006/main">
              <a:ext uri="{FF2B5EF4-FFF2-40B4-BE49-F238E27FC236}">
                <a16:creationId xmlns:a16="http://schemas.microsoft.com/office/drawing/2014/main" id="{3259836E-6B74-48E0-9F7F-728FA351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62275"/>
            <a:ext cx="9810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rPr>
              <a:t>配置企业运行环境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1FFE31CF-9464-48B5-8FAD-2089B68C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展示统一的使用方式">
            <a:extLst xmlns:a="http://schemas.openxmlformats.org/drawingml/2006/main">
              <a:ext uri="{FF2B5EF4-FFF2-40B4-BE49-F238E27FC236}">
                <a16:creationId xmlns:a16="http://schemas.microsoft.com/office/drawing/2014/main" id="{C9B8EEF2-B214-45A6-A648-D2EFAEB5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81400"/>
            <a:ext cx="9810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rPr>
              <a:t>展示统一的使用方式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E0ACD86F-28D0-48CE-8036-2B92DA00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沉淀技能与复用专家">
            <a:extLst xmlns:a="http://schemas.openxmlformats.org/drawingml/2006/main">
              <a:ext uri="{FF2B5EF4-FFF2-40B4-BE49-F238E27FC236}">
                <a16:creationId xmlns:a16="http://schemas.microsoft.com/office/drawing/2014/main" id="{E32F0438-7FA0-4811-A3CE-650588F1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00525"/>
            <a:ext cx="9810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rPr>
              <a:t>沉淀技能与复用专家</a:t>
            </a:r>
          </a:p>
        </p:txBody>
      </p:sp>
      <p:sp>
        <p:nvSpPr>
          <p:cNvPr id="11" name="04">
            <a:extLst xmlns:a="http://schemas.openxmlformats.org/drawingml/2006/main">
              <a:ext uri="{FF2B5EF4-FFF2-40B4-BE49-F238E27FC236}">
                <a16:creationId xmlns:a16="http://schemas.microsoft.com/office/drawing/2014/main" id="{FF9ACF73-F23B-4D17-8F5B-664AA8FC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2" name="连接业务系统">
            <a:extLst xmlns:a="http://schemas.openxmlformats.org/drawingml/2006/main">
              <a:ext uri="{FF2B5EF4-FFF2-40B4-BE49-F238E27FC236}">
                <a16:creationId xmlns:a16="http://schemas.microsoft.com/office/drawing/2014/main" id="{0CA152AA-6828-4348-B950-A2482907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19650"/>
            <a:ext cx="9810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rPr>
              <a:t>连接业务系统</a:t>
            </a:r>
          </a:p>
        </p:txBody>
      </p:sp>
      <p:sp>
        <p:nvSpPr>
          <p:cNvPr id="13" name="05">
            <a:extLst xmlns:a="http://schemas.openxmlformats.org/drawingml/2006/main">
              <a:ext uri="{FF2B5EF4-FFF2-40B4-BE49-F238E27FC236}">
                <a16:creationId xmlns:a16="http://schemas.microsoft.com/office/drawing/2014/main" id="{3DA944D6-B80E-4B99-8DEA-B4326DE4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162E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4" name="接入消息渠道">
            <a:extLst xmlns:a="http://schemas.openxmlformats.org/drawingml/2006/main">
              <a:ext uri="{FF2B5EF4-FFF2-40B4-BE49-F238E27FC236}">
                <a16:creationId xmlns:a16="http://schemas.microsoft.com/office/drawing/2014/main" id="{7B41DD73-3C4E-47B2-9643-422BA93B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38775"/>
            <a:ext cx="9810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01F3C"/>
                </a:solidFill>
                <a:latin typeface="PingFang SC"/>
                <a:ea typeface="PingFang SC"/>
                <a:cs typeface="PingFang SC"/>
              </a:rPr>
              <a:t>接入消息渠道</a:t>
            </a:r>
          </a:p>
        </p:txBody>
      </p:sp>
      <p:sp>
        <p:nvSpPr>
          <p:cNvPr id="15" name="共同的环境、工作方式与业务能力">
            <a:extLst xmlns:a="http://schemas.openxmlformats.org/drawingml/2006/main">
              <a:ext uri="{FF2B5EF4-FFF2-40B4-BE49-F238E27FC236}">
                <a16:creationId xmlns:a16="http://schemas.microsoft.com/office/drawing/2014/main" id="{99BFBA91-34E8-401F-8F36-D6C0CE40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162E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162EF"/>
                </a:solidFill>
                <a:latin typeface="PingFang SC"/>
                <a:ea typeface="PingFang SC"/>
                <a:cs typeface="PingFang SC"/>
              </a:rPr>
              <a:t>共同的环境、工作方式与业务能力</a:t>
            </a:r>
          </a:p>
        </p:txBody>
      </p:sp>
    </p:spTree>
    <p:extLst>
      <p:ext uri="{BB962C8B-B14F-4D97-AF65-F5344CB8AC3E}">
        <p14:creationId xmlns:p14="http://schemas.microsoft.com/office/powerpoint/2010/main" val="2970118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2026-10-19T11:02:36.1250000Z</dcterms:created>
  <dcterms:modified xsi:type="dcterms:W3CDTF">2026-10-19T11:02:36.1250000Z</dcterms:modified>
</coreProperties>
</file>