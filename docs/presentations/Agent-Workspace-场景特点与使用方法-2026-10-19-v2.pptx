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259043f7e84703" /><Relationship Type="http://schemas.openxmlformats.org/officeDocument/2006/relationships/extended-properties" Target="/docProps/app.xml" Id="R7c839a290b84429c" /><Relationship Type="http://schemas.openxmlformats.org/officeDocument/2006/relationships/officeDocument" Target="/ppt/presentation.xml" Id="R0b5c87d286544b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3e7bb58d2d4c6b"/>
  </p:sldMasterIdLst>
  <p:notesMasterIdLst>
    <p:notesMasterId xmlns:r="http://schemas.openxmlformats.org/officeDocument/2006/relationships" r:id="R7eb3b46dff154769"/>
  </p:notesMasterIdLst>
  <p:sldIdLst>
    <p:sldId xmlns:r="http://schemas.openxmlformats.org/officeDocument/2006/relationships" id="256" r:id="Ra7d580f7d1474f2f"/>
    <p:sldId xmlns:r="http://schemas.openxmlformats.org/officeDocument/2006/relationships" id="257" r:id="R4f002e2d262d411d"/>
    <p:sldId xmlns:r="http://schemas.openxmlformats.org/officeDocument/2006/relationships" id="258" r:id="R1cc968199b8744c9"/>
    <p:sldId xmlns:r="http://schemas.openxmlformats.org/officeDocument/2006/relationships" id="259" r:id="R0ec90c2f4dfb43db"/>
    <p:sldId xmlns:r="http://schemas.openxmlformats.org/officeDocument/2006/relationships" id="260" r:id="Rd65d5e1b0c644cd8"/>
    <p:sldId xmlns:r="http://schemas.openxmlformats.org/officeDocument/2006/relationships" id="261" r:id="R5fcacdf599324a62"/>
    <p:sldId xmlns:r="http://schemas.openxmlformats.org/officeDocument/2006/relationships" id="262" r:id="Re26d95b5c324405c"/>
    <p:sldId xmlns:r="http://schemas.openxmlformats.org/officeDocument/2006/relationships" id="263" r:id="R936985f039c64929"/>
    <p:sldId xmlns:r="http://schemas.openxmlformats.org/officeDocument/2006/relationships" id="264" r:id="R14cc5f4468ef4d98"/>
    <p:sldId xmlns:r="http://schemas.openxmlformats.org/officeDocument/2006/relationships" id="265" r:id="R03cec5b9938a48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136369f92e49ff" /><Relationship Type="http://schemas.openxmlformats.org/officeDocument/2006/relationships/slideMaster" Target="/ppt/slideMasters/slideMaster1.xml" Id="R943e7bb58d2d4c6b" /><Relationship Type="http://schemas.openxmlformats.org/officeDocument/2006/relationships/notesMaster" Target="/ppt/notesMasters/notesMaster1.xml" Id="R7eb3b46dff154769" /><Relationship Type="http://schemas.openxmlformats.org/officeDocument/2006/relationships/presProps" Target="/ppt/presProps.xml" Id="R3f17e09c0efe4c02" /><Relationship Type="http://schemas.openxmlformats.org/officeDocument/2006/relationships/tableStyles" Target="/ppt/tableStyles.xml" Id="Rde889b19a0934d22" /><Relationship Type="http://schemas.openxmlformats.org/officeDocument/2006/relationships/slide" Target="/ppt/slides/slide1.xml" Id="Ra7d580f7d1474f2f" /><Relationship Type="http://schemas.openxmlformats.org/officeDocument/2006/relationships/slide" Target="/ppt/slides/slide2.xml" Id="R4f002e2d262d411d" /><Relationship Type="http://schemas.openxmlformats.org/officeDocument/2006/relationships/slide" Target="/ppt/slides/slide3.xml" Id="R1cc968199b8744c9" /><Relationship Type="http://schemas.openxmlformats.org/officeDocument/2006/relationships/slide" Target="/ppt/slides/slide4.xml" Id="R0ec90c2f4dfb43db" /><Relationship Type="http://schemas.openxmlformats.org/officeDocument/2006/relationships/slide" Target="/ppt/slides/slide5.xml" Id="Rd65d5e1b0c644cd8" /><Relationship Type="http://schemas.openxmlformats.org/officeDocument/2006/relationships/slide" Target="/ppt/slides/slide6.xml" Id="R5fcacdf599324a62" /><Relationship Type="http://schemas.openxmlformats.org/officeDocument/2006/relationships/slide" Target="/ppt/slides/slide7.xml" Id="Re26d95b5c324405c" /><Relationship Type="http://schemas.openxmlformats.org/officeDocument/2006/relationships/slide" Target="/ppt/slides/slide8.xml" Id="R936985f039c64929" /><Relationship Type="http://schemas.openxmlformats.org/officeDocument/2006/relationships/slide" Target="/ppt/slides/slide9.xml" Id="R14cc5f4468ef4d98" /><Relationship Type="http://schemas.openxmlformats.org/officeDocument/2006/relationships/slide" Target="/ppt/slides/slide10.xml" Id="R03cec5b9938a48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f576ea36074c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631439f02e46c7" /><Relationship Type="http://schemas.openxmlformats.org/officeDocument/2006/relationships/notesMaster" Target="/ppt/notesMasters/notesMaster1.xml" Id="R621e4b55d79749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84e8c421594f30" /><Relationship Type="http://schemas.openxmlformats.org/officeDocument/2006/relationships/notesMaster" Target="/ppt/notesMasters/notesMaster1.xml" Id="R650bf46a063841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2c8ca0e29646cd" /><Relationship Type="http://schemas.openxmlformats.org/officeDocument/2006/relationships/notesMaster" Target="/ppt/notesMasters/notesMaster1.xml" Id="Rf7be43889f554d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a6af7b7c9a4107" /><Relationship Type="http://schemas.openxmlformats.org/officeDocument/2006/relationships/notesMaster" Target="/ppt/notesMasters/notesMaster1.xml" Id="Re525dfd376cc40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e050a6bf21464e" /><Relationship Type="http://schemas.openxmlformats.org/officeDocument/2006/relationships/notesMaster" Target="/ppt/notesMasters/notesMaster1.xml" Id="Rdd8a562aab654c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bcfda316904288" /><Relationship Type="http://schemas.openxmlformats.org/officeDocument/2006/relationships/notesMaster" Target="/ppt/notesMasters/notesMaster1.xml" Id="Rc909c55a480f46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67f05e774f411c" /><Relationship Type="http://schemas.openxmlformats.org/officeDocument/2006/relationships/notesMaster" Target="/ppt/notesMasters/notesMaster1.xml" Id="R0268c29ef54540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dd8619a70d4692" /><Relationship Type="http://schemas.openxmlformats.org/officeDocument/2006/relationships/notesMaster" Target="/ppt/notesMasters/notesMaster1.xml" Id="Ra1d7947c626648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24c8e6ec614040" /><Relationship Type="http://schemas.openxmlformats.org/officeDocument/2006/relationships/notesMaster" Target="/ppt/notesMasters/notesMaster1.xml" Id="R43a434fdb3174d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555c9b50a64d7d" /><Relationship Type="http://schemas.openxmlformats.org/officeDocument/2006/relationships/notesMaster" Target="/ppt/notesMasters/notesMaster1.xml" Id="Rcd6682e3cc9248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开场只回答一个问题：Agent Workspace 解决的不是“再多一个聊天框”，而是如何让个人经验和 AI 能力沉淀为可持续使用的工作方式。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CONTEXT.md</a:t>
            </a:r>
          </a:p>
          <a:p xmlns:a="http://schemas.openxmlformats.org/drawingml/2006/main">
            <a:r>
              <a:t>- docs/product/agent-workspace-requirements.md §1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用这一页统一术语：会话是持续对话，工作流是可复用的执行定义，资源库承载专家、技能、连接器和知识库。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CONTEXT.md</a:t>
            </a:r>
          </a:p>
          <a:p xmlns:a="http://schemas.openxmlformats.org/drawingml/2006/main">
            <a:r>
              <a:t>- docs/product/agent-workspace-requirements.md §1–3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这张图是基于产品对象做的场景归纳。横轴表示复用频率，纵轴表示是否需要外部操作或受控工具。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docs/product/agent-workspace-requirements.md §4–7, §9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强调产品闭环：先在会话中探索，再把成熟路径保存成工作流。工作流不是可视化 DAG，而是一份可重复执行的配置。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CONTEXT.md — Session, Workflow, Run Conversation</a:t>
            </a:r>
          </a:p>
          <a:p xmlns:a="http://schemas.openxmlformats.org/drawingml/2006/main">
            <a:r>
              <a:t>- docs/product/agent-workspace-requirements.md §4–5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这一页可结合真实截图解释：团队成员拥有独立身份和调用记录，领队产生正式答复，平台保留过程证据。不要把测试截图解读为生产模型质量验收。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docs/product/agent-workspace-requirements.md §9.2</a:t>
            </a:r>
          </a:p>
          <a:p xmlns:a="http://schemas.openxmlformats.org/drawingml/2006/main">
            <a:r>
              <a:t>- docs/evidence/agent-workspace/2026-10-10-expert-refactor-local-acceptance.md</a:t>
            </a:r>
          </a:p>
          <a:p xmlns:a="http://schemas.openxmlformats.org/drawingml/2006/main">
            <a:r>
              <a:t>- output/playwright/team-task-desktop.png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是可复用执行定义，不是任意 DAG。它带一个持久 Workspace，每次执行产生独立 Run，并保留历史。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CONTEXT.md — Workflow, Workflow Queue, Run Conversation, Run</a:t>
            </a:r>
          </a:p>
          <a:p xmlns:a="http://schemas.openxmlformats.org/drawingml/2006/main">
            <a:r>
              <a:t>- docs/product/agent-workspace-requirements.md §5–6, §8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这一页解释“组织资产化”：把个人经验写入 Expert 或 Skill，把外部能力放入 Connector，把资料放入 Knowledge Base。执行快照保留当时版本，不会被后续编辑悄悄改写。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CONTEXT.md — Department Resource, Execution Stage Snapshot</a:t>
            </a:r>
          </a:p>
          <a:p xmlns:a="http://schemas.openxmlformats.org/drawingml/2006/main">
            <a:r>
              <a:t>- docs/product/agent-workspace-requirements.md §8.4, §9</a:t>
            </a:r>
          </a:p>
          <a:p xmlns:a="http://schemas.openxmlformats.org/drawingml/2006/main">
            <a:r>
              <a:t>- docs/evidence/agent-workspace/2026-10-06-online-resource-sync.md</a:t>
            </a:r>
          </a:p>
          <a:p xmlns:a="http://schemas.openxmlformats.org/drawingml/2006/main">
            <a:r>
              <a:t>- output/playwright/experts-desktop.png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这页用于建立正确预期。尤其要区分产品目标、已实现能力与生产验收证据。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CONTEXT.md</a:t>
            </a:r>
          </a:p>
          <a:p xmlns:a="http://schemas.openxmlformats.org/drawingml/2006/main">
            <a:r>
              <a:t>- AGENTS.md — 当前基线、必须守住的边界</a:t>
            </a:r>
          </a:p>
          <a:p xmlns:a="http://schemas.openxmlformats.org/drawingml/2006/main">
            <a:r>
              <a:t>- docs/product/agent-workspace-requirements.md §11–14</a:t>
            </a:r>
          </a:p>
          <a:p xmlns:a="http://schemas.openxmlformats.org/drawingml/2006/main">
            <a:r>
              <a:t>- docs/evidence/agent-workspace/2026-10-18-local-runc-execution.md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现场演示时可以按这五步操作。说明：新建 Session 不要求先配置 Expert、Skill 或 Connector；这些都是按需添加。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README.md — 安装与首次使用</a:t>
            </a:r>
          </a:p>
          <a:p xmlns:a="http://schemas.openxmlformats.org/drawingml/2006/main">
            <a:r>
              <a:t>- docs/product/agent-workspace-requirements.md §3–5, §9–10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最后用一个具体任务收束。示例中的跨境电商 Expert 和业务 Skill 来自仓库资源目录；现场可替换为团队自己的真实任务。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README.md — 资源目录</a:t>
            </a:r>
          </a:p>
          <a:p xmlns:a="http://schemas.openxmlformats.org/drawingml/2006/main">
            <a:r>
              <a:t>- docs/evidence/agent-workspace/2026-10-06-online-resource-sync.md</a:t>
            </a:r>
          </a:p>
          <a:p xmlns:a="http://schemas.openxmlformats.org/drawingml/2006/main">
            <a:r>
              <a:t>- experts/ and skills/ repository resources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51c9b1eb847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0bda7f15a40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3bf45cbb048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857c916f848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407172ecd4c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08499e0a34c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9D58AE-041A-49FA-94B1-E097EFC6B8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EC4D99-0626-42AF-9829-F609BBA036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EBB73F-3CC8-4B98-AA3E-29A7429FD1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29BD77-96D3-418C-AE21-0D5CD5F231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0FB938-4753-4F1D-8C1A-FEC6F89344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392CA0-3C07-498B-9173-1AD717FA7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7160EA-B0C0-46EA-AC5F-C015DB4F4D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746619-9329-4CBC-80CE-B8DA891041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C15DDB-7076-4DCA-9A4A-E2EF93419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E7E603-98EB-4538-A82F-9243A710B5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3e03b75c4648f1" /><Relationship Type="http://schemas.openxmlformats.org/officeDocument/2006/relationships/slideLayout" Target="/ppt/slideLayouts/slideLayout1.xml" Id="R2f20b84983d149ae" /><Relationship Type="http://schemas.openxmlformats.org/officeDocument/2006/relationships/slideLayout" Target="/ppt/slideLayouts/slideLayout2.xml" Id="R4fad9610366547ad" /><Relationship Type="http://schemas.openxmlformats.org/officeDocument/2006/relationships/slideLayout" Target="/ppt/slideLayouts/slideLayout3.xml" Id="Ra26e156f46ee46fb" /><Relationship Type="http://schemas.openxmlformats.org/officeDocument/2006/relationships/slideLayout" Target="/ppt/slideLayouts/slideLayout4.xml" Id="Rf6f9aec9427d4eec" /><Relationship Type="http://schemas.openxmlformats.org/officeDocument/2006/relationships/slideLayout" Target="/ppt/slideLayouts/slideLayout5.xml" Id="Rddd5c87afb2a43da" /><Relationship Type="http://schemas.openxmlformats.org/officeDocument/2006/relationships/slideLayout" Target="/ppt/slideLayouts/slideLayout6.xml" Id="Rd95e0695452c45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20b84983d149ae"/>
    <p:sldLayoutId xmlns:r="http://schemas.openxmlformats.org/officeDocument/2006/relationships" id="2147483650" r:id="R4fad9610366547ad"/>
    <p:sldLayoutId xmlns:r="http://schemas.openxmlformats.org/officeDocument/2006/relationships" id="2147483651" r:id="Ra26e156f46ee46fb"/>
    <p:sldLayoutId xmlns:r="http://schemas.openxmlformats.org/officeDocument/2006/relationships" id="2147483652" r:id="Rf6f9aec9427d4eec"/>
    <p:sldLayoutId xmlns:r="http://schemas.openxmlformats.org/officeDocument/2006/relationships" id="2147483653" r:id="Rddd5c87afb2a43da"/>
    <p:sldLayoutId xmlns:r="http://schemas.openxmlformats.org/officeDocument/2006/relationships" id="2147483654" r:id="Rd95e0695452c45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bb50673ade4731" /><Relationship Type="http://schemas.openxmlformats.org/officeDocument/2006/relationships/notesSlide" Target="/ppt/notesSlides/notesSlide1.xml" Id="Rc6b83752811b40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7faf301c34e0c" /><Relationship Type="http://schemas.openxmlformats.org/officeDocument/2006/relationships/notesSlide" Target="/ppt/notesSlides/notesSlide2.xml" Id="R70c4833c120a42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f74a2f4a5b4b2c" /><Relationship Type="http://schemas.openxmlformats.org/officeDocument/2006/relationships/notesSlide" Target="/ppt/notesSlides/notesSlide3.xml" Id="R1c59df159ea14f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380afb4c3f4922" /><Relationship Type="http://schemas.openxmlformats.org/officeDocument/2006/relationships/notesSlide" Target="/ppt/notesSlides/notesSlide4.xml" Id="R83360821193840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b4b7cec9c74d06" /><Relationship Type="http://schemas.openxmlformats.org/officeDocument/2006/relationships/image" Target="/ppt/media/image.png" Id="R9bc187ee937f41a5" /><Relationship Type="http://schemas.openxmlformats.org/officeDocument/2006/relationships/notesSlide" Target="/ppt/notesSlides/notesSlide5.xml" Id="R19e74673e9b147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14dd933b474d79" /><Relationship Type="http://schemas.openxmlformats.org/officeDocument/2006/relationships/notesSlide" Target="/ppt/notesSlides/notesSlide6.xml" Id="R2bd429a5b8c942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a361a7d48e4b2d" /><Relationship Type="http://schemas.openxmlformats.org/officeDocument/2006/relationships/image" Target="/ppt/media/image2.png" Id="R519ce996ec7a4c86" /><Relationship Type="http://schemas.openxmlformats.org/officeDocument/2006/relationships/notesSlide" Target="/ppt/notesSlides/notesSlide7.xml" Id="Rc92f7a7346ab47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63b3949684efb" /><Relationship Type="http://schemas.openxmlformats.org/officeDocument/2006/relationships/notesSlide" Target="/ppt/notesSlides/notesSlide8.xml" Id="R3b071ecabac443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64413502ab4df5" /><Relationship Type="http://schemas.openxmlformats.org/officeDocument/2006/relationships/notesSlide" Target="/ppt/notesSlides/notesSlide9.xml" Id="R8a5ac62f12ba42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66f9f690148cd" /><Relationship Type="http://schemas.openxmlformats.org/officeDocument/2006/relationships/notesSlide" Target="/ppt/notesSlides/notesSlide10.xml" Id="R251bd84b609441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98D23-5924-442A-9764-8C5E7A7E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19150"/>
            <a:ext cx="3619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defRPr>
            </a:pPr>
            <a:r>
              <a:rPr sz="15750" b="1">
                <a:solidFill>
                  <a:srgbClr val="263454"/>
                </a:solidFill>
                <a:latin typeface="PingFang SC"/>
                <a:ea typeface="PingFang SC"/>
                <a:cs typeface="PingFang SC"/>
              </a:rPr>
              <a:t>AW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20E21-33B8-49B2-8DA8-6302E11F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620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3D8CC-7B2A-4596-838D-2E6004F4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BB691-A08A-45B9-A362-A2491080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D9E3F6"/>
                </a:solidFill>
                <a:latin typeface="PingFang SC"/>
                <a:ea typeface="PingFang SC"/>
                <a:cs typeface="PingFang SC"/>
              </a:rPr>
              <a:t>适用场景、核心特点与使用方法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957E8-7B58-4FC5-B55E-D06A460F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AFC0DE"/>
                </a:solidFill>
                <a:latin typeface="PingFang SC"/>
                <a:ea typeface="PingFang SC"/>
                <a:cs typeface="PingFang SC"/>
              </a:rPr>
              <a:t>把一次对话沉淀为可复用、可治理的工作方式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75FDF-7136-48B4-8D2F-92F6005A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FA2C5"/>
                </a:solidFill>
                <a:latin typeface="PingFang SC"/>
                <a:ea typeface="PingFang SC"/>
                <a:cs typeface="PingFang SC"/>
              </a:rPr>
              <a:t>内部分享 · 2026.10</a:t>
            </a:r>
          </a:p>
        </p:txBody>
      </p:sp>
    </p:spTree>
    <p:extLst>
      <p:ext uri="{BB962C8B-B14F-4D97-AF65-F5344CB8AC3E}">
        <p14:creationId xmlns:p14="http://schemas.microsoft.com/office/powerpoint/2010/main" val="1761627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D72B2-8181-4F36-AA22-2D72437C513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7743825" y="3886514"/>
            <a:ext cx="466411" cy="666436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C4D8"/>
            </a:solidFill>
            <a:prstDash val="soli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573D1-747E-4FFF-BABD-0E77C8FAA59F}"/>
              </a:ext>
            </a:extLst>
          </p:cNvPr>
          <p:cNvCxnSpPr>
            <a:stCxn xmlns:a="http://schemas.openxmlformats.org/drawingml/2006/main" id="11" idx="5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220514" y="3886514"/>
            <a:ext cx="552136" cy="504511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C4D8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88C72-CC30-4D7B-B844-BFE3945A7399}"/>
              </a:ext>
            </a:extLst>
          </p:cNvPr>
          <p:cNvCxnSpPr>
            <a:stCxn xmlns:a="http://schemas.openxmlformats.org/drawingml/2006/main" id="11" idx="7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9220514" y="2390775"/>
            <a:ext cx="571186" cy="485461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C4D8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51B66-57CB-4D76-BF85-93E45A92F10A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7858125" y="2133600"/>
            <a:ext cx="352111" cy="742636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C4D8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DD6FD3-8337-4C4E-AB1E-F73AEE2E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01 · 它是什么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D0DEB-5718-43A2-AA61-238FD20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Agent Workspace 的产品定位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3E3C0-5DC9-4835-AF20-1384A37E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1DFAD-FF1D-48CE-B6A2-CE8A7374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38590-DDCA-4C06-A597-C715E3CF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一个以个人工作为中心的 AI 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7F8DB-C143-4294-B21E-79AA4DDF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810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用户在私有会话中解决问题，把成熟做法保存为工作流，并复用专家、技能、连接器和知识库。管理员只管理账号、模型与治理边界，不读取个人内容。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BD0B0-B2CA-4966-92E1-2401A5A9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轻量对话入口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5B7C7-2CE5-4FBA-9772-ED7F5567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338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可复用工作流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85ED7-D84B-422B-B19E-7D2B92DE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33800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8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受管执行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52041-B44F-41C0-9D34-EB1BF770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33800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rPr>
              <a:t>企业治理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CADBF-F6AC-4D8E-A2A4-92581F2B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70BF9-1306-4E0C-AC2D-D6936D42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F6B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4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4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4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4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4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4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4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4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4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会话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8A01B-1340-4D35-B15B-DB939EBD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1455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EB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4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4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4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4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4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4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4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4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4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工作流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C604AC-4FCC-4E1C-91D9-012E0488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1480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5F8F6"/>
          </a:solidFill>
          <a:ln xmlns:a="http://schemas.openxmlformats.org/drawingml/2006/main" w="14288">
            <a:solidFill>
              <a:srgbClr val="0EA5A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4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4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4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4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4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4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4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4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4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AI 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B6567A-8DAC-4E38-A61C-9DDF9BA3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5295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资源库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472BA-36D3-4329-B1F6-9262EE2E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 · 内部分享</a:t>
            </a:r>
          </a:p>
        </p:txBody>
      </p:sp>
    </p:spTree>
    <p:extLst>
      <p:ext uri="{BB962C8B-B14F-4D97-AF65-F5344CB8AC3E}">
        <p14:creationId xmlns:p14="http://schemas.microsoft.com/office/powerpoint/2010/main" val="109450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ABA1B4-5548-481A-A295-28322FEA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02 · 什么时候用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31FA3-08F2-470F-A118-A7E1EC2E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最适合的四类工作场景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C8EA3-FAF3-4E27-B744-F41AADD3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29AD9-C25C-4FB7-AE5B-F14808D6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427EF-523A-4F84-B41B-1B14D42D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197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9C9D9-BAF1-4C86-A4A4-D3169555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62125"/>
            <a:ext cx="0" cy="385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CDEB1-393F-4B63-97C1-E451A347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62125"/>
            <a:ext cx="0" cy="385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5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09E6F-4DA0-4D03-956C-4592EFAF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90938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5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3CFD0-C4C2-452E-B1D5-EB690DB4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53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一次性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22A3A-9AE7-4EE4-83AE-FCCD7F7E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753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高频复用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2446A-7EC9-46E3-9847-B3DF795E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分析与创作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1EE67-1631-404F-9EAB-E690C34D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0497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外部操作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10606-47EE-4D19-9A0F-3F89D254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A4F90-A4D7-4C21-95D7-3FE419D9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957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复杂分析与决策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97AE69-E244-4595-86CB-3FDC7192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4815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调研、方案设计、代码审查、内容打磨。先用会话，必要时选择 Expert Team。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DCBB7-AC98-49B8-98CE-2FB82587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E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A94A3-7A73-46F8-909B-C5F14C00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957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稳定交付物生成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FC5C6-05D1-4C71-9A28-E024174C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4815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周报、商品分析、知识整理、批量文案。成熟后保存为 Workflow。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00C1D-A50E-4A9D-9EF4-2BBE1DCE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47875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F8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14B55B-1CDB-4BF3-8497-D4C67EC5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38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带工具的专业任务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94B02-606C-4C52-A09C-4D2CE671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90775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读取文件、检索知识库、调用内部服务。通过 Skill 与 Connector 扩展。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690637-969D-41A9-98C3-E7BF21E7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934D9-6E94-43C3-8D8E-21441B34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自动化与渠道触发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853EAC-4409-4C53-879C-F1A72CC6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90775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定时执行、API 触发、消息渠道收发。适合明确输入、明确输出的流程。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DE78C2-2F91-4ED7-9781-E7074DD2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0483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判断标准：任务越可重复、越依赖工具与权限控制，越适合沉淀到 Agent Workspace。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2FAF80-51A3-4669-B689-0F3DE612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 · 内部分享</a:t>
            </a:r>
          </a:p>
        </p:txBody>
      </p:sp>
    </p:spTree>
    <p:extLst>
      <p:ext uri="{BB962C8B-B14F-4D97-AF65-F5344CB8AC3E}">
        <p14:creationId xmlns:p14="http://schemas.microsoft.com/office/powerpoint/2010/main" val="1965548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668CD7-C7A8-42F7-B598-12BC5332A95C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629650" y="3286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D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99D5DC-5EF5-4AF6-A264-487AB66F3F9B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848350" y="3286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D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C76A6-4166-4DB7-A66F-A6E07932BC0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67050" y="3286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D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2CCEC2-9E9E-47DB-8A45-AB132E89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03 · 产品使用模型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CC616-E473-4B9E-A1C2-26581538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从一次会话到可复用工作流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70E74-A715-42CD-9C96-A848818B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11CC2-A251-440B-8AC3-EB11865E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E9B0D-10B9-4505-9BA4-C8A4C224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343150" cy="2381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BD68C-8053-4D81-9761-F663ABE2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759E0-7364-4D7F-904C-1A1CE190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95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19745-B41C-4304-A45E-956B2A91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提出任务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03A03-98A0-48A7-B0BB-57CF2CBC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在 Session 中说明目标、背景和交付物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6FB5F-1534-4410-B4B2-BE5BE147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343150" cy="2381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0F9DD-1B73-4791-A349-C89E3698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86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03646-BBFA-4660-AF8E-33516184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495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F8F8A-6168-483E-8AB7-A419BCFD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90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选择能力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BC283-8FA9-46A0-A5D4-CC977F5E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24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按需选择 Expert / Team、Skill、Connector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C3714-D181-45D5-B176-6EA75D96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343150" cy="2381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D1F64-9228-4FCC-9BC7-410A86D0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AD436-C42B-49DD-8995-07469E77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495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FCD2A-70BD-4886-8B42-E0BAE61C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90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受管执行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B18C0-D8D1-4EDE-9B63-2DAE4F91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平台冻结快照，运行时处理工具、文件和审批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491C17-3D5C-4DA3-B1A5-67A35FAF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2343150" cy="2381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40A063-BB08-4148-BE85-22536BE7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86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84372-352C-4663-85F8-07F50C86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495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C9773E-64B1-4262-BCC5-63AD1E5A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90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沉淀复用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FF1543-FF8B-40D7-B80F-5A352CF9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24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结果可保存为 Workflow，保留目标和工作空间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36FFE-6102-4E1B-AE43-6BCE88E3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工作流随后可以手动运行，也可以由时间计划、API 或消息渠道触发。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50D847-0171-4B28-B8F5-B42DEA5E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72125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手动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58272D-34B2-4A0E-AF30-9B7079C1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72125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定时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0E385F-9270-46D7-AD9C-2162759C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572125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8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167A3C-0732-4A55-8BA5-5B69DFCB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7212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A26200"/>
                </a:solidFill>
                <a:latin typeface="PingFang SC"/>
                <a:ea typeface="PingFang SC"/>
                <a:cs typeface="PingFang SC"/>
              </a:rPr>
              <a:t>消息渠道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1FDDF0-63EA-4644-B075-FEF6BD3F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 · 内部分享</a:t>
            </a:r>
          </a:p>
        </p:txBody>
      </p:sp>
    </p:spTree>
    <p:extLst>
      <p:ext uri="{BB962C8B-B14F-4D97-AF65-F5344CB8AC3E}">
        <p14:creationId xmlns:p14="http://schemas.microsoft.com/office/powerpoint/2010/main" val="1386490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837B2-A8D9-4241-8B25-212E3F56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04 · 场景一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BE487-4E6E-4D0A-9AE1-6104D2F8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复杂任务：让多个专家在一个任务里协作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637D9-122B-4733-A4A3-F8E89A84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9052A-0B56-438E-B9A7-4B0CEE82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CF63A-3310-4373-9D0B-3C24D38B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适合什么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91084-38A2-4FA7-83D2-1279C087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需要不同专业视角、明确分工和最终统一答案的任务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0003A-1D68-42A1-B59C-4EB4E1BF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例如：产品方案评审、复杂调研、代码审查、跨境商品机会分析。领队负责拆分与汇总，成员在独立上下文中完成自己的工作。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5B0A2-7953-4446-A115-52F5854C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E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7EBC9-E9A7-4675-8CB5-1861124B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67225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过程可见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F8CAB-B194-4049-B35C-18E7DACE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9650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Task Panel 展示成员调用、修复、证据和文件冲突。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A9B30-6A52-49CD-AEF4-6007A3BE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F8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884F7-BE2E-4730-A13E-CBA7186E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19725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结果可沉淀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AF454-BA18-4DBF-B24D-4DD445D4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72150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成功结果可继续对话，也可保存为 Workflow。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06A02-BF5F-429A-8E1E-65359B2C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76400"/>
            <a:ext cx="613410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65055-7D9B-4276-9500-A4C327C7A7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187ee937f41a5"/>
          <a:srcRect xmlns:a="http://schemas.openxmlformats.org/drawingml/2006/main" l="489" t="0" r="4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14975" y="1809750"/>
            <a:ext cx="5867400" cy="41148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9F6DD-D978-420A-AEC2-49CAE5BB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143625"/>
            <a:ext cx="4086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本地验收截图：Expert Team 执行与任务面板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2594F-6292-4EFC-9ED3-F1B4DE02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 · 内部分享</a:t>
            </a:r>
          </a:p>
        </p:txBody>
      </p:sp>
    </p:spTree>
    <p:extLst>
      <p:ext uri="{BB962C8B-B14F-4D97-AF65-F5344CB8AC3E}">
        <p14:creationId xmlns:p14="http://schemas.microsoft.com/office/powerpoint/2010/main" val="332545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48930-898D-4893-9BAD-6BFBD5410C7F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458200" y="47815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D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5B768-0142-4EE9-B5C4-48F662953AD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791200" y="47815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D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090C9-6D74-4F84-9057-5582FEAFAAA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124200" y="47815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9CD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A5229E-2B0B-40DB-AA57-7AD19E6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05 · 场景二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BE18B-46BC-4BFD-ADDB-7C3AEFEC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重复任务：把成熟做法保存为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21658-5E63-426E-B3D4-8F471358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FC70F-18C8-4039-9439-DD86372A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9AF7C-AB19-4A73-9BC5-B02AEF34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典型任务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5319F-6CE0-4A85-94C0-D2D7DD37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周报整理、商品研究、知识更新、批量内容检查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EB315-716D-419D-AAD2-9505C18A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这些任务通常有稳定的目标、固定输入和明确交付物。Workflow 保留执行配置和持久 Workspace，让后续 Run 沿用同一套工作上下文。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05467-88B8-490C-BBC2-A2154EC9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076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1430">
            <a:solidFill>
              <a:srgbClr val="2F6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B21EB-ABD5-40F3-B68D-E4EA341B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529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56A5A-4CD6-4C84-8272-390076E6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手动、定时、API、消息渠道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8323B-BEB3-41F6-A261-C24DD05E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52900"/>
            <a:ext cx="2076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EB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FE729-596A-4257-8854-F99FB088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529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ABBAA-8E59-44B9-8A87-8590731E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006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固定目标 + 专家与资源快照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5309F-6ECF-4EA1-88C2-69641ABB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52900"/>
            <a:ext cx="2076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F8F6"/>
          </a:solidFill>
          <a:ln xmlns:a="http://schemas.openxmlformats.org/drawingml/2006/main" w="11430">
            <a:solidFill>
              <a:srgbClr val="0EA5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09DB6-6895-4FD6-AF9B-63BE8518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529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工作空间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33E0C-1055-4C0E-84F8-09436F0F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文件与上下文按 Workflow 持续保留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E29F9-1F98-4F4C-BA1E-311FA939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52900"/>
            <a:ext cx="2076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8205B-AB42-4CAC-B0C5-4F2CEF83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529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55D9D-DA88-4492-B03F-8ECBBABF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006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结果、Artifact、运行记录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A8AB2-1265-41BD-B4EA-9AEBA38E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每个 Workflow 的 Run 按 FIFO 串行，其他 Workflow 仍可并发运行。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848674-58E9-44EE-BB7E-FD5B6678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 · 内部分享</a:t>
            </a:r>
          </a:p>
        </p:txBody>
      </p:sp>
    </p:spTree>
    <p:extLst>
      <p:ext uri="{BB962C8B-B14F-4D97-AF65-F5344CB8AC3E}">
        <p14:creationId xmlns:p14="http://schemas.microsoft.com/office/powerpoint/2010/main" val="3619859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413C7-29C5-4500-A1D1-51898D85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06 · 场景三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F874D-26A5-47AB-9FC5-7D98EBE1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组织复用：专家、技能与连接器形成能力资产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C488C-0B08-49B7-8A28-8C2D9D64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3EA08-9FD8-41BC-BB65-8FF3AF33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05B70-C1D1-4085-A321-FCF48B27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181850" cy="42291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EAAB4-6A94-48FF-932D-4B554058D9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ce996ec7a4c86"/>
          <a:srcRect xmlns:a="http://schemas.openxmlformats.org/drawingml/2006/main" l="0" t="8744" r="0" b="8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809750"/>
            <a:ext cx="6915150" cy="3962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4CFEC-8C33-4F33-B963-F0765D4B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048375"/>
            <a:ext cx="3409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本地验收截图：平台专家与个人专家目录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70888-B5BF-4470-A374-F9864CCF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四类可复用资源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25E71-F43E-46EB-8392-D618472F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0E8EE-CFC6-4226-9EA5-8C95A665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71725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Expert / 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FDFDD-C530-4A52-A503-DC256E2B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37"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沉淀角色、方法、输出标准与协作方式。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88247-65A6-437A-9DA9-C7823609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E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269BC-3847-4BED-8714-E550979E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48025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CB238-BF12-4FC8-BCA4-4478A6A2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004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44"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把一类任务的步骤和判断规则打包。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DEA88-F8C5-46EB-80CB-5E098F74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338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F8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2F1ED-15D9-4F88-906F-269F4438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24325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Connector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688D01-E883-434E-A60D-9665C3FC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767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37"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连接外部系统，并保留授权与审批边界。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1D5B4-D8B0-49E6-956F-F84EC433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45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2857C-BA87-447A-95B3-15E71F3F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00625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Knowledge 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0D73D-BF11-4C8C-9B4D-37CE4524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3530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44"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保存可检索资料，为回答提供来源。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9A2787-7DDD-48BE-B54C-F86B60E7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9817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资源可按个人、部门或平台范围发布；历史执行继续引用当时冻结的修订。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C68747-38BA-4574-A318-61FDF126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 · 内部分享</a:t>
            </a:r>
          </a:p>
        </p:txBody>
      </p:sp>
    </p:spTree>
    <p:extLst>
      <p:ext uri="{BB962C8B-B14F-4D97-AF65-F5344CB8AC3E}">
        <p14:creationId xmlns:p14="http://schemas.microsoft.com/office/powerpoint/2010/main" val="16203189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39FD0-90AF-4FB0-8F3E-01765E53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07 · 为什么与普通聊天不同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13E51-F6B7-4C4D-B097-6C49499A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核心特点与使用边界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9152D-5ABD-4D4F-85A4-743BBA29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D771C-F26F-4B1C-8142-3B824EE3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3C300-6902-4DAF-872F-6B1727A8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206DF-367B-46C1-9E53-B626A21D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私有归属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F3091-1668-43B8-933D-AEF0E1E5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76400"/>
            <a:ext cx="769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Session、Workflow、文件和个人资源由单一 User 拥有；管理员看治理元数据，不读取私人内容。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D4C47-3B31-4166-B2FC-0B4F8A33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07AA3-6EEA-4592-842D-A6F5B2E8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B7CA5-EF04-4E29-BA6B-319094C4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289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可重现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1AB9F-4044-4E78-9F0E-FD4F1A99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28900"/>
            <a:ext cx="769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每次响应和 Run 冻结实际使用的专家、模型、Skill、Connector 与修订，重试沿用原快照。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1E9F0-7413-4CCB-AA88-4B6F81EB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F5C31-79A8-42FE-8E01-46CF709D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EA5A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EA5A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24269-0B1B-4E7F-BD1A-DEBFC406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受管执行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A9800-76AB-4EA2-B96E-9FD07AA2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81400"/>
            <a:ext cx="769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运行时在隔离环境中执行；Secret 临时物化并脱敏；高风险 Connector 命令需要一次性审批。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094B6-7A2A-4FAA-9C3D-C0461855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1E4F6-1228-4D4F-9405-CADD22E1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C9FF5-00CC-4EF9-B6C2-A2AD5B41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证据驱动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3BDB0-76C7-4C5A-89D5-E695B7DB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33900"/>
            <a:ext cx="7696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Capability 只有经过对应镜像与 Conformance 才能开启；本地 runc 验证不等于生产 runsc 隔离证据。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41018-80B6-462A-A505-32A5BD6E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EBEC"/>
          </a:solidFill>
          <a:ln xmlns:a="http://schemas.openxmlformats.org/drawingml/2006/main" w="9525">
            <a:solidFill>
              <a:srgbClr val="F4C7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E4792-0843-4D4B-A15B-9236348B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E2555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1">
                <a:solidFill>
                  <a:srgbClr val="E2555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1">
                <a:solidFill>
                  <a:srgbClr val="E2555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1">
                <a:solidFill>
                  <a:srgbClr val="E2555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1">
                <a:solidFill>
                  <a:srgbClr val="E2555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1">
                <a:solidFill>
                  <a:srgbClr val="E2555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1">
                <a:solidFill>
                  <a:srgbClr val="E2555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1">
                <a:solidFill>
                  <a:srgbClr val="E2555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1">
                <a:solidFill>
                  <a:srgbClr val="E2555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1">
                <a:solidFill>
                  <a:srgbClr val="E2555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2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25555"/>
                </a:solidFill>
                <a:latin typeface="PingFang SC"/>
                <a:ea typeface="PingFang SC"/>
                <a:cs typeface="PingFang SC"/>
              </a:rPr>
              <a:t>第一版边界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08466-F132-49D8-90A9-5594A938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293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F2A4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F2A44"/>
                </a:solidFill>
                <a:latin typeface="PingFang SC"/>
                <a:ea typeface="PingFang SC"/>
                <a:cs typeface="PingFang SC"/>
              </a:rPr>
              <a:t>Workflow 不是可视化 DAG；目标产品不包含 Commit、Push、Review Branch 或 PR/MR 流程。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877048-4EF5-4975-99F7-2161A082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 · 内部分享</a:t>
            </a:r>
          </a:p>
        </p:txBody>
      </p:sp>
    </p:spTree>
    <p:extLst>
      <p:ext uri="{BB962C8B-B14F-4D97-AF65-F5344CB8AC3E}">
        <p14:creationId xmlns:p14="http://schemas.microsoft.com/office/powerpoint/2010/main" val="13625249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722729-E3A4-4983-9F67-8EF0EFF1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F6BFF"/>
                </a:solidFill>
                <a:latin typeface="PingFang SC"/>
                <a:ea typeface="PingFang SC"/>
                <a:cs typeface="PingFang SC"/>
              </a:rPr>
              <a:t>08 · 怎么使用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A5FF9-2C16-444E-A912-D5F27C93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上手路径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29270-64C4-41E9-AD69-9D1C59CB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E81E4-A0D2-4287-9F5C-817CE939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CEDEC-231B-404C-AE17-57CE3E9F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66900"/>
            <a:ext cx="0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D2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AB5F1-F335-4679-85A1-417446CD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704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01EB3-6B73-432A-A23E-FBFBB82E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764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完成登录与默认模型配置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0194D-D0FD-48F0-9615-C82B5F18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866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管理员建立平台默认 Runtime 与 Provider Model。普通用户可以直接继承。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17C2A-9A06-427B-B51E-6829EBF3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00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1F7B4-8B12-44DA-839A-858E4F66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71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先从一个 Session 开始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8B2AD-F99B-4D47-B1A5-0F9F8781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33700"/>
            <a:ext cx="866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写清目标、背景、输入和期望交付物；不需要先创建 Expert。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4AF4F-B381-49C1-886F-FA413047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95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A7E13-64C0-4701-A433-7FC3C107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671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按需增加专业能力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58DEB-D804-46DA-9AE3-D8EE6454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29050"/>
            <a:ext cx="866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单一专业任务选 Expert；需要分工时选 Team；涉及资料和外部系统时添加 Skill、Connector 或知识库。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9B397-ACA9-490C-B050-8B9B9AC3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91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B7D31-CAAF-41A3-A352-4C53435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检查计划、审批和结果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CA820-17D7-4922-9A1B-053D07BE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24400"/>
            <a:ext cx="866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复杂任务可先生成 Plan；高风险外部操作必须由执行者确认。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41D5C-5C0F-435D-A84A-545601AA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286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027FD-5550-4E54-813E-5A586359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57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把成熟任务保存为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88EC2-B881-4B3D-84A4-A6C2250B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9750"/>
            <a:ext cx="866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补充环境、触发方式和 Workspace，再用手动、定时、API 或消息渠道运行。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B10710-A794-41BA-9C0F-06F9E43E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115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建议：第一次只选一个有明确交付物的真实任务，先跑通闭环，再增加自动化和外部连接。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91E16-5336-49DB-8B82-76600D7B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Agent Workspace · 内部分享</a:t>
            </a:r>
          </a:p>
        </p:txBody>
      </p:sp>
    </p:spTree>
    <p:extLst>
      <p:ext uri="{BB962C8B-B14F-4D97-AF65-F5344CB8AC3E}">
        <p14:creationId xmlns:p14="http://schemas.microsoft.com/office/powerpoint/2010/main" val="20976260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9DD55-897C-4F25-B57D-3D76C5F7638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534400" y="35433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E1D8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9B8091-8B1C-481B-A270-D44B5568D06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791200" y="35433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E1D8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C107D-5C15-4C49-B984-5F1BBC47950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48000" y="35433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E1D8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B239B-2DB0-4528-BDC1-C2FBF5E9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一个适合现场演示的任务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9F2E4-BA86-4704-806B-6FB2976E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78E1D8"/>
                </a:solidFill>
                <a:latin typeface="PingFang SC"/>
                <a:ea typeface="PingFang SC"/>
                <a:cs typeface="PingFang SC"/>
              </a:rPr>
              <a:t>跨境商品机会分析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1FA53-208F-4C94-A27F-7AF88E89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3241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D2B49"/>
          </a:solidFill>
          <a:ln xmlns:a="http://schemas.openxmlformats.org/drawingml/2006/main" w="11430">
            <a:solidFill>
              <a:srgbClr val="36476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BF7DA-F351-4657-9C36-270BBDF8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4BA4A-56AF-410E-9026-4087AAE0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31F79-7336-437D-B955-6D6126AF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rPr>
              <a:t>目标市场、商品方向、成本条件、可接受风险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6D505-1F2A-4E3B-9662-FF57F496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23241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D2B49"/>
          </a:solidFill>
          <a:ln xmlns:a="http://schemas.openxmlformats.org/drawingml/2006/main" w="11430">
            <a:solidFill>
              <a:srgbClr val="36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C3BC6-3831-42AD-A333-F5454D82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279E7-33A9-49F5-B1BB-F293661D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C8A11-6C96-4D50-80AC-FC42B29C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576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rPr>
              <a:t>跨境电商 Expert Team + 关键词 / 类目 / 利润 Skill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18259-795A-4857-9504-EF0F483C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3241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D2B49"/>
          </a:solidFill>
          <a:ln xmlns:a="http://schemas.openxmlformats.org/drawingml/2006/main" w="11430">
            <a:solidFill>
              <a:srgbClr val="3647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6F722-D304-471E-81BA-84532EAD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AC4F4-8694-408C-A4A0-3B408A21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FF008-8FFC-4664-B911-5E9912BB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576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rPr>
              <a:t>证据化分析、利润判断、候选清单与下一步验证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D92B2-E5E4-4464-82AA-12D2ED8F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3241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D2B49"/>
          </a:solidFill>
          <a:ln xmlns:a="http://schemas.openxmlformats.org/drawingml/2006/main" w="11430">
            <a:solidFill>
              <a:srgbClr val="3647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E632E7-83A3-4E3D-B86B-C1B6BF30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1D8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F7DA4-7FCB-4382-AC8D-D70A6E88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复用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AFAFC-DD9F-4FEA-9E06-F54F9E00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576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1E8"/>
                </a:solidFill>
                <a:latin typeface="PingFang SC"/>
                <a:ea typeface="PingFang SC"/>
                <a:cs typeface="PingFang SC"/>
              </a:rPr>
              <a:t>保存为 Workflow，后续更换品类或定时复查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940A0-560A-45FB-A05A-22B858AD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先解决一个真实问题，再把有效方法沉淀成可复用资产。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DB30B9-14BF-4310-8B6E-6CAC08A6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900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900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900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900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900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900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900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900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900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8FA2C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FA2C5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E156D9-13D2-429A-BC9F-345DACB0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7220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1">
                <a:solidFill>
                  <a:srgbClr val="78E1D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8E1D8"/>
                </a:solidFill>
                <a:latin typeface="PingFang SC"/>
                <a:ea typeface="PingFang SC"/>
                <a:cs typeface="PingFang SC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97011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2026-10-19T05:33:53.2410000Z</dcterms:created>
  <dcterms:modified xsi:type="dcterms:W3CDTF">2026-10-19T05:33:53.2410000Z</dcterms:modified>
</coreProperties>
</file>